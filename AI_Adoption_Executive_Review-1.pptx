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9790bee-9da9-713f-a89e-02e278da9997}">
          <p14:sldIdLst>
            <p14:sldId id="256"/>
            <p14:sldId id="257"/>
          </p14:sldIdLst>
        </p14:section>
        <p14:section name="Evidence" id="{72969ff9-11fb-f2ca-4556-0af54ded00e2}">
          <p14:sldIdLst>
            <p14:sldId id="258"/>
            <p14:sldId id="259"/>
            <p14:sldId id="260"/>
          </p14:sldIdLst>
        </p14:section>
        <p14:section name="Agentic repository" id="{e8cf7d8d-9f3e-3312-7026-f4bc97ed6357}">
          <p14:sldIdLst>
            <p14:sldId id="261"/>
            <p14:sldId id="262"/>
          </p14:sldIdLst>
        </p14:section>
        <p14:section name="Governance and plan" id="{d7071ced-4cb6-333a-a613-15a8a54d75be}">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Licences</c:v>
                </c:pt>
              </c:strCache>
            </c:strRef>
          </c:tx>
          <c:spPr>
            <a:solidFill>
              <a:schemeClr val="accent1"/>
            </a:solidFill>
            <a:ln w="9525" cap="flat">
              <a:solidFill>
                <a:srgbClr val="F9F9F9"/>
              </a:solidFill>
              <a:prstDash val="solid"/>
              <a:round/>
            </a:ln>
            <a:effectLst/>
          </c:spPr>
          <c:dPt>
            <c:idx val="0"/>
            <c:bubble3D val="0"/>
            <c:spPr>
              <a:solidFill>
                <a:srgbClr val="1F6F78"/>
              </a:solidFill>
              <a:ln w="9525" cap="flat">
                <a:solidFill>
                  <a:srgbClr val="FFFFFF"/>
                </a:solidFill>
                <a:prstDash val="solid"/>
                <a:round/>
              </a:ln>
              <a:effectLst/>
            </c:spPr>
          </c:dPt>
          <c:dPt>
            <c:idx val="1"/>
            <c:bubble3D val="0"/>
            <c:spPr>
              <a:solidFill>
                <a:srgbClr val="D9E1E4"/>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Active</c:v>
                </c:pt>
                <c:pt idx="1">
                  <c:v>Not active</c:v>
                </c:pt>
              </c:strCache>
            </c:strRef>
          </c:cat>
          <c:val>
            <c:numRef>
              <c:f>Sheet1!$B$2:$B$3</c:f>
              <c:numCache>
                <c:ptCount val="2"/>
                <c:pt idx="0">
                  <c:v>16</c:v>
                </c:pt>
                <c:pt idx="1">
                  <c:v>7</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A3C"/>
                </a:solidFill>
                <a:latin typeface="+mn-lt"/>
              </a:defRPr>
            </a:pPr>
            <a:r>
              <a:rPr sz="1400" b="0" i="0" u="none" strike="noStrike">
                <a:solidFill>
                  <a:srgbClr val="0B2A3C"/>
                </a:solidFill>
                <a:latin typeface="+mn-lt"/>
              </a:rPr>
              <a:t>Account trend (reporting projects)</a:t>
            </a:r>
          </a:p>
        </c:rich>
      </c:tx>
      <c:layout/>
      <c:overlay val="0"/>
    </c:title>
    <c:autoTitleDeleted val="0"/>
    <c:plotArea>
      <c:layout/>
      <c:lineChart>
        <c:varyColors val="0"/>
        <c:ser>
          <c:idx val="0"/>
          <c:order val="0"/>
          <c:tx>
            <c:strRef>
              <c:f>Sheet1!$B$1</c:f>
              <c:strCache>
                <c:ptCount val="1"/>
                <c:pt idx="0">
                  <c:v>Adoption (active / licensed)</c:v>
                </c:pt>
              </c:strCache>
            </c:strRef>
          </c:tx>
          <c:spPr>
            <a:solidFill>
              <a:srgbClr val="1F6F78"/>
            </a:solidFill>
            <a:ln w="38100" cap="flat">
              <a:solidFill>
                <a:srgbClr val="1F6F78"/>
              </a:solidFill>
              <a:prstDash val="solid"/>
              <a:round/>
            </a:ln>
            <a:effectLst/>
          </c:spPr>
          <c:invertIfNegative val="0"/>
          <c:dLbls>
            <c:numFmt formatCode="0%" sourceLinked="0"/>
            <c:txPr>
              <a:bodyPr/>
              <a:lstStyle/>
              <a:p>
                <a:pPr>
                  <a:defRPr b="0" i="0" strike="noStrike" sz="1200" u="none">
                    <a:solidFill>
                      <a:srgbClr val="10222B"/>
                    </a:solidFill>
                    <a:latin typeface="+mn-lt"/>
                  </a:defRPr>
                </a:pPr>
              </a:p>
            </c:txPr>
            <c:dLblPos val="t"/>
            <c:showLegendKey val="0"/>
            <c:showVal val="1"/>
            <c:showCatName val="0"/>
            <c:showSerName val="0"/>
            <c:showPercent val="0"/>
            <c:showBubbleSize val="0"/>
            <c:showLeaderLines val="0"/>
          </c:dLbls>
          <c:marker>
            <c:symbol val="circle"/>
            <c:size val="7"/>
            <c:spPr>
              <a:solidFill>
                <a:srgbClr val="1F6F78"/>
              </a:solidFill>
              <a:ln w="9525" cap="flat">
                <a:solidFill>
                  <a:srgbClr val="1F6F78"/>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Sheet1!$B$2:$B$7</c:f>
              <c:numCache>
                <c:formatCode>General</c:formatCode>
                <c:ptCount val="6"/>
                <c:pt idx="0">
                  <c:v>0.29</c:v>
                </c:pt>
                <c:pt idx="1">
                  <c:v>0.39</c:v>
                </c:pt>
                <c:pt idx="2">
                  <c:v>0.52</c:v>
                </c:pt>
                <c:pt idx="3">
                  <c:v>0.61</c:v>
                </c:pt>
                <c:pt idx="4">
                  <c:v>0.65</c:v>
                </c:pt>
                <c:pt idx="5">
                  <c:v>0.7</c:v>
                </c:pt>
              </c:numCache>
            </c:numRef>
          </c:val>
          <c:smooth val="0"/>
        </c:ser>
        <c:ser>
          <c:idx val="1"/>
          <c:order val="1"/>
          <c:tx>
            <c:strRef>
              <c:f>Sheet1!$C$1</c:f>
              <c:strCache>
                <c:ptCount val="1"/>
                <c:pt idx="0">
                  <c:v>PRs with AI-assisted review</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200" u="none">
                    <a:solidFill>
                      <a:srgbClr val="10222B"/>
                    </a:solidFill>
                    <a:latin typeface="+mn-lt"/>
                  </a:defRPr>
                </a:pPr>
              </a:p>
            </c:txPr>
            <c:dLblPos val="t"/>
            <c:showLegendKey val="0"/>
            <c:showVal val="1"/>
            <c:showCatName val="0"/>
            <c:showSerName val="0"/>
            <c:showPercent val="0"/>
            <c:showBubbleSize val="0"/>
            <c:showLeaderLines val="0"/>
          </c:dLbls>
          <c:marker>
            <c:symbol val="circle"/>
            <c:size val="7"/>
            <c:spPr>
              <a:solidFill>
                <a:srgbClr val="E8A33D"/>
              </a:solidFill>
              <a:ln w="9525" cap="flat">
                <a:solidFill>
                  <a:srgbClr val="E8A33D"/>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Sheet1!$C$2:$C$7</c:f>
              <c:numCache>
                <c:formatCode>General</c:formatCode>
                <c:ptCount val="6"/>
                <c:pt idx="0">
                  <c:v>0</c:v>
                </c:pt>
                <c:pt idx="1">
                  <c:v>0.03</c:v>
                </c:pt>
                <c:pt idx="2">
                  <c:v>0.11</c:v>
                </c:pt>
                <c:pt idx="3">
                  <c:v>0.25</c:v>
                </c:pt>
                <c:pt idx="4">
                  <c:v>0.32</c:v>
                </c:pt>
                <c:pt idx="5">
                  <c:v>0.4</c:v>
                </c:pt>
              </c:numCache>
            </c:numRef>
          </c:val>
          <c:smooth val="0"/>
        </c:ser>
        <c:dLbls>
          <c:numFmt formatCode="0%" sourceLinked="0"/>
          <c:txPr>
            <a:bodyPr/>
            <a:lstStyle/>
            <a:p>
              <a:pPr>
                <a:defRPr b="0" i="0" strike="noStrike" sz="1200" u="none">
                  <a:solidFill>
                    <a:srgbClr val="10222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5"/>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9E1E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5"/>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022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A3C"/>
                </a:solidFill>
                <a:latin typeface="+mn-lt"/>
              </a:defRPr>
            </a:pPr>
            <a:r>
              <a:rPr sz="1400" b="0" i="0" u="none" strike="noStrike">
                <a:solidFill>
                  <a:srgbClr val="0B2A3C"/>
                </a:solidFill>
                <a:latin typeface="+mn-lt"/>
              </a:rPr>
              <a:t>Projects using AI, by SDLC phase</a:t>
            </a:r>
          </a:p>
        </c:rich>
      </c:tx>
      <c:layout/>
      <c:overlay val="0"/>
    </c:title>
    <c:autoTitleDeleted val="0"/>
    <c:plotArea>
      <c:layout/>
      <c:barChart>
        <c:barDir val="col"/>
        <c:grouping val="stacked"/>
        <c:varyColors val="0"/>
        <c:ser>
          <c:idx val="0"/>
          <c:order val="0"/>
          <c:tx>
            <c:strRef>
              <c:f>Sheet1!$B$1</c:f>
              <c:strCache>
                <c:ptCount val="1"/>
                <c:pt idx="0">
                  <c:v>Regular use</c:v>
                </c:pt>
              </c:strCache>
            </c:strRef>
          </c:tx>
          <c:spPr>
            <a:solidFill>
              <a:srgbClr val="1F6F78"/>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Planning</c:v>
                  </c:pt>
                  <c:pt idx="1">
                    <c:v>Design</c:v>
                  </c:pt>
                  <c:pt idx="2">
                    <c:v>Coding</c:v>
                  </c:pt>
                  <c:pt idx="3">
                    <c:v>Review</c:v>
                  </c:pt>
                  <c:pt idx="4">
                    <c:v>Testing</c:v>
                  </c:pt>
                  <c:pt idx="5">
                    <c:v>Docs</c:v>
                  </c:pt>
                  <c:pt idx="6">
                    <c:v>Release</c:v>
                  </c:pt>
                </c:lvl>
              </c:multiLvlStrCache>
            </c:multiLvlStrRef>
          </c:cat>
          <c:val>
            <c:numRef>
              <c:f>Sheet1!$B$2:$B$8</c:f>
              <c:numCache>
                <c:formatCode>General</c:formatCode>
                <c:ptCount val="7"/>
                <c:pt idx="0">
                  <c:v>0</c:v>
                </c:pt>
                <c:pt idx="1">
                  <c:v>0</c:v>
                </c:pt>
                <c:pt idx="2">
                  <c:v>2</c:v>
                </c:pt>
                <c:pt idx="3">
                  <c:v>1</c:v>
                </c:pt>
                <c:pt idx="4">
                  <c:v>0</c:v>
                </c:pt>
                <c:pt idx="5">
                  <c:v>1</c:v>
                </c:pt>
                <c:pt idx="6">
                  <c:v>0</c:v>
                </c:pt>
              </c:numCache>
            </c:numRef>
          </c:val>
        </c:ser>
        <c:ser>
          <c:idx val="1"/>
          <c:order val="1"/>
          <c:tx>
            <c:strRef>
              <c:f>Sheet1!$C$1</c:f>
              <c:strCache>
                <c:ptCount val="1"/>
                <c:pt idx="0">
                  <c:v>Pilot</c:v>
                </c:pt>
              </c:strCache>
            </c:strRef>
          </c:tx>
          <c:spPr>
            <a:solidFill>
              <a:srgbClr val="E8A33D"/>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Planning</c:v>
                  </c:pt>
                  <c:pt idx="1">
                    <c:v>Design</c:v>
                  </c:pt>
                  <c:pt idx="2">
                    <c:v>Coding</c:v>
                  </c:pt>
                  <c:pt idx="3">
                    <c:v>Review</c:v>
                  </c:pt>
                  <c:pt idx="4">
                    <c:v>Testing</c:v>
                  </c:pt>
                  <c:pt idx="5">
                    <c:v>Docs</c:v>
                  </c:pt>
                  <c:pt idx="6">
                    <c:v>Release</c:v>
                  </c:pt>
                </c:lvl>
              </c:multiLvlStrCache>
            </c:multiLvlStrRef>
          </c:cat>
          <c:val>
            <c:numRef>
              <c:f>Sheet1!$C$2:$C$8</c:f>
              <c:numCache>
                <c:formatCode>General</c:formatCode>
                <c:ptCount val="7"/>
                <c:pt idx="0">
                  <c:v>1</c:v>
                </c:pt>
                <c:pt idx="1">
                  <c:v>1</c:v>
                </c:pt>
                <c:pt idx="2">
                  <c:v>0</c:v>
                </c:pt>
                <c:pt idx="3">
                  <c:v>1</c:v>
                </c:pt>
                <c:pt idx="4">
                  <c:v>1</c:v>
                </c:pt>
                <c:pt idx="5">
                  <c:v>1</c:v>
                </c:pt>
                <c:pt idx="6">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5"/>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D9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5"/>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1022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A3C"/>
                </a:solidFill>
                <a:latin typeface="+mn-lt"/>
              </a:defRPr>
            </a:pPr>
            <a:r>
              <a:rPr sz="1400" b="0" i="0" u="none" strike="noStrike">
                <a:solidFill>
                  <a:srgbClr val="0B2A3C"/>
                </a:solidFill>
                <a:latin typeface="+mn-lt"/>
              </a:rPr>
              <a:t>Review rounds per PR</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9FB4BC"/>
            </a:solidFill>
            <a:effectLst/>
          </c:spPr>
          <c:invertIfNegative val="0"/>
          <c:dLbls>
            <c:numFmt formatCode="0.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Sheet1!$B$2:$B$3</c:f>
              <c:numCache>
                <c:formatCode>General</c:formatCode>
                <c:ptCount val="2"/>
                <c:pt idx="0">
                  <c:v>2.4</c:v>
                </c:pt>
                <c:pt idx="1">
                  <c:v>2.1</c:v>
                </c:pt>
              </c:numCache>
            </c:numRef>
          </c:val>
        </c:ser>
        <c:ser>
          <c:idx val="1"/>
          <c:order val="1"/>
          <c:tx>
            <c:strRef>
              <c:f>Sheet1!$C$1</c:f>
              <c:strCache>
                <c:ptCount val="1"/>
                <c:pt idx="0">
                  <c:v>Current</c:v>
                </c:pt>
              </c:strCache>
            </c:strRef>
          </c:tx>
          <c:spPr>
            <a:solidFill>
              <a:srgbClr val="1F6F78"/>
            </a:solidFill>
            <a:effectLst/>
          </c:spPr>
          <c:invertIfNegative val="0"/>
          <c:dLbls>
            <c:numFmt formatCode="0.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Sheet1!$C$2:$C$3</c:f>
              <c:numCache>
                <c:formatCode>General</c:formatCode>
                <c:ptCount val="2"/>
                <c:pt idx="0">
                  <c:v>2.1</c:v>
                </c:pt>
                <c:pt idx="1">
                  <c:v>2</c:v>
                </c:pt>
              </c:numCache>
            </c:numRef>
          </c:val>
        </c:ser>
        <c:dLbls>
          <c:numFmt formatCode="0.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5"/>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D9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A3C"/>
                </a:solidFill>
                <a:latin typeface="+mn-lt"/>
              </a:defRPr>
            </a:pPr>
            <a:r>
              <a:rPr sz="1400" b="0" i="0" u="none" strike="noStrike">
                <a:solidFill>
                  <a:srgbClr val="0B2A3C"/>
                </a:solidFill>
                <a:latin typeface="+mn-lt"/>
              </a:rPr>
              <a:t>Review comments per PR</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9FB4BC"/>
            </a:solidFill>
            <a:effectLst/>
          </c:spPr>
          <c:invertIfNegative val="0"/>
          <c:dLbls>
            <c:numFmt formatCode="0.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Sheet1!$B$2:$B$3</c:f>
              <c:numCache>
                <c:formatCode>General</c:formatCode>
                <c:ptCount val="2"/>
                <c:pt idx="0">
                  <c:v>6.8</c:v>
                </c:pt>
                <c:pt idx="1">
                  <c:v>5.2</c:v>
                </c:pt>
              </c:numCache>
            </c:numRef>
          </c:val>
        </c:ser>
        <c:ser>
          <c:idx val="1"/>
          <c:order val="1"/>
          <c:tx>
            <c:strRef>
              <c:f>Sheet1!$C$1</c:f>
              <c:strCache>
                <c:ptCount val="1"/>
                <c:pt idx="0">
                  <c:v>Current</c:v>
                </c:pt>
              </c:strCache>
            </c:strRef>
          </c:tx>
          <c:spPr>
            <a:solidFill>
              <a:srgbClr val="1F6F78"/>
            </a:solidFill>
            <a:effectLst/>
          </c:spPr>
          <c:invertIfNegative val="0"/>
          <c:dLbls>
            <c:numFmt formatCode="0.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Sheet1!$C$2:$C$3</c:f>
              <c:numCache>
                <c:formatCode>General</c:formatCode>
                <c:ptCount val="2"/>
                <c:pt idx="0">
                  <c:v>5.9</c:v>
                </c:pt>
                <c:pt idx="1">
                  <c:v>5</c:v>
                </c:pt>
              </c:numCache>
            </c:numRef>
          </c:val>
        </c:ser>
        <c:dLbls>
          <c:numFmt formatCode="0.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5"/>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D9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022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A3C"/>
                </a:solidFill>
                <a:latin typeface="+mn-lt"/>
              </a:defRPr>
            </a:pPr>
            <a:r>
              <a:rPr sz="1400" b="0" i="0" u="none" strike="noStrike">
                <a:solidFill>
                  <a:srgbClr val="0B2A3C"/>
                </a:solidFill>
                <a:latin typeface="+mn-lt"/>
              </a:rPr>
              <a:t>PR cycle time (median h)</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9FB4BC"/>
            </a:solidFill>
            <a:effectLst/>
          </c:spPr>
          <c:invertIfNegative val="0"/>
          <c:dLbls>
            <c:numFmt formatCode="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Sheet1!$B$2:$B$3</c:f>
              <c:numCache>
                <c:formatCode>General</c:formatCode>
                <c:ptCount val="2"/>
                <c:pt idx="0">
                  <c:v>52</c:v>
                </c:pt>
                <c:pt idx="1">
                  <c:v>46</c:v>
                </c:pt>
              </c:numCache>
            </c:numRef>
          </c:val>
        </c:ser>
        <c:ser>
          <c:idx val="1"/>
          <c:order val="1"/>
          <c:tx>
            <c:strRef>
              <c:f>Sheet1!$C$1</c:f>
              <c:strCache>
                <c:ptCount val="1"/>
                <c:pt idx="0">
                  <c:v>Current</c:v>
                </c:pt>
              </c:strCache>
            </c:strRef>
          </c:tx>
          <c:spPr>
            <a:solidFill>
              <a:srgbClr val="1F6F78"/>
            </a:solidFill>
            <a:effectLst/>
          </c:spPr>
          <c:invertIfNegative val="0"/>
          <c:dLbls>
            <c:numFmt formatCode="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Sheet1!$C$2:$C$3</c:f>
              <c:numCache>
                <c:formatCode>General</c:formatCode>
                <c:ptCount val="2"/>
                <c:pt idx="0">
                  <c:v>44</c:v>
                </c:pt>
                <c:pt idx="1">
                  <c:v>42</c:v>
                </c:pt>
              </c:numCache>
            </c:numRef>
          </c:val>
        </c:ser>
        <c:dLbls>
          <c:numFmt formatCode="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5"/>
                </a:solidFill>
                <a:latin typeface="+mn-lt"/>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9525" cap="flat">
              <a:solidFill>
                <a:srgbClr val="D9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A3C"/>
                </a:solidFill>
                <a:latin typeface="+mn-lt"/>
              </a:defRPr>
            </a:pPr>
            <a:r>
              <a:rPr sz="1400" b="0" i="0" u="none" strike="noStrike">
                <a:solidFill>
                  <a:srgbClr val="0B2A3C"/>
                </a:solidFill>
                <a:latin typeface="+mn-lt"/>
              </a:rPr>
              <a:t>AI review findings</a:t>
            </a:r>
          </a:p>
        </c:rich>
      </c:tx>
      <c:layout/>
      <c:overlay val="0"/>
    </c:title>
    <c:autoTitleDeleted val="0"/>
    <c:plotArea>
      <c:layout/>
      <c:barChart>
        <c:barDir val="col"/>
        <c:grouping val="clustered"/>
        <c:varyColors val="0"/>
        <c:ser>
          <c:idx val="0"/>
          <c:order val="0"/>
          <c:tx>
            <c:strRef>
              <c:f>Sheet1!$B$1</c:f>
              <c:strCache>
                <c:ptCount val="1"/>
                <c:pt idx="0">
                  <c:v>Raised</c:v>
                </c:pt>
              </c:strCache>
            </c:strRef>
          </c:tx>
          <c:spPr>
            <a:solidFill>
              <a:srgbClr val="9FB4BC"/>
            </a:solidFill>
            <a:effectLst/>
          </c:spPr>
          <c:invertIfNegative val="0"/>
          <c:dLbls>
            <c:numFmt formatCode="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Sheet1!$B$2:$B$3</c:f>
              <c:numCache>
                <c:formatCode>General</c:formatCode>
                <c:ptCount val="2"/>
                <c:pt idx="0">
                  <c:v>60</c:v>
                </c:pt>
                <c:pt idx="1">
                  <c:v>18</c:v>
                </c:pt>
              </c:numCache>
            </c:numRef>
          </c:val>
        </c:ser>
        <c:ser>
          <c:idx val="1"/>
          <c:order val="1"/>
          <c:tx>
            <c:strRef>
              <c:f>Sheet1!$C$1</c:f>
              <c:strCache>
                <c:ptCount val="1"/>
                <c:pt idx="0">
                  <c:v>Accepted</c:v>
                </c:pt>
              </c:strCache>
            </c:strRef>
          </c:tx>
          <c:spPr>
            <a:solidFill>
              <a:srgbClr val="1F6F78"/>
            </a:solidFill>
            <a:effectLst/>
          </c:spPr>
          <c:invertIfNegative val="0"/>
          <c:dLbls>
            <c:numFmt formatCode="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cat>
            <c:multiLvlStrRef>
              <c:f>Sheet1!$A$2:$A$3</c:f>
              <c:multiLvlStrCache>
                <c:ptCount val="2"/>
                <c:lvl>
                  <c:pt idx="0">
                    <c:v>Project A</c:v>
                  </c:pt>
                  <c:pt idx="1">
                    <c:v>Project B</c:v>
                  </c:pt>
                </c:lvl>
              </c:multiLvlStrCache>
            </c:multiLvlStrRef>
          </c:cat>
          <c:val>
            <c:numRef>
              <c:f>Sheet1!$C$2:$C$3</c:f>
              <c:numCache>
                <c:formatCode>General</c:formatCode>
                <c:ptCount val="2"/>
                <c:pt idx="0">
                  <c:v>41</c:v>
                </c:pt>
                <c:pt idx="1">
                  <c:v>9</c:v>
                </c:pt>
              </c:numCache>
            </c:numRef>
          </c:val>
        </c:ser>
        <c:dLbls>
          <c:numFmt formatCode="0" sourceLinked="0"/>
          <c:txPr>
            <a:bodyPr/>
            <a:lstStyle/>
            <a:p>
              <a:pPr>
                <a:defRPr b="0" i="0" strike="noStrike" sz="1200" u="none">
                  <a:solidFill>
                    <a:srgbClr val="1022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C85"/>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D9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022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Replace customer name and date. Position: a measured, evidence-based review. All figures come from the reporting workbook; sample values must be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mirror the Dashboard cards: projects reporting, adoption, AI-assisted PR share, median change in review rounds and PR cycle time, finding acceptance. Update from the Dashboard once real data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rule (editable on the Dashboard): On track = adoption at or above 70% and review rounds not increased; Watch = at or above 40%. These thresholds are a management choice, not a standard. P03 to P10 have no data yet; do not extrapolate.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chart comes from the Trend sheet roll-up (account totals of reporting projects). The SDLC chart counts projects with Regular or Pilot use per phase from the SDLC Usage sheet. The opportunity is outside coding, but only where evidence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change across reporting projects: review rounds -8.6%, comments per PR -8.5%, PR cycle -12.0%. Project A is measured from PR history (baseline Apr-Jun, current Jul-Sep); Project B is a lead estimate. Survey figures are respondent-weighted (12 and 7 respondents). Observation,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never merges, never activates a rule and never scores itself. Deterministic checks are plain scripts with unit tests. SonarQube and existing analysers stay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counts four items: instructions deployed, CI gate on, reviewer agent in use, critical paths defined. Acceptance is findings accepted by a human divided by findings raised in shadow mode. Rule counts overlap if projects share a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 = likelihood x impact on a 1-3 scale: 6 or more High, 3 to 5 Medium, below 3 Low. Do not claim compliance. Controls are designed to be assessed against the customer's quality system (for example HIPAA, IEC 62304 and ISO 13485 practices); how AI-assisted changes are documented must be agreed with their quality and regulatory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decisions. Timings follow the rollout plan (baseline, shadow mode, gate, steady state); adjust to the customer's calendar. Actions are tracked in the workbook Actions sheet; no owners or dates are pre-assigned.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A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42416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49040"/>
            <a:ext cx="1042416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92240"/>
            <a:ext cx="7315200" cy="228600"/>
          </a:xfrm>
          <a:prstGeom prst="rect">
            <a:avLst/>
          </a:prstGeom>
          <a:noFill/>
          <a:ln/>
        </p:spPr>
        <p:txBody>
          <a:bodyPr wrap="square" lIns="0" tIns="0" rIns="0" bIns="0" rtlCol="0" anchor="ctr"/>
          <a:lstStyle/>
          <a:p>
            <a:pPr indent="0" marL="0">
              <a:buNone/>
            </a:pPr>
            <a:r>
              <a:rPr lang="en-US" sz="1000" dirty="0">
                <a:solidFill>
                  <a:schemeClr val="accent6"/>
                </a:solidFill>
              </a:rPr>
              <a:t>GenAI adoption and agentic repository | Account review</a:t>
            </a:r>
            <a:endParaRPr lang="en-US" sz="10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424160" cy="1554480"/>
          </a:xfrm>
          <a:prstGeom prst="rect">
            <a:avLst/>
          </a:prstGeom>
          <a:noFill/>
          <a:ln/>
        </p:spPr>
        <p:txBody>
          <a:bodyPr wrap="square" rtlCol="0" anchor="b"/>
          <a:lstStyle/>
          <a:p>
            <a:pPr algn="l" indent="0" marL="0">
              <a:buNone/>
            </a:pPr>
            <a:r>
              <a:rPr lang="en-US" sz="4400" b="1" dirty="0">
                <a:solidFill>
                  <a:schemeClr val="bg1"/>
                </a:solidFill>
              </a:rPr>
              <a:t>GenAI adoption and the agentic repository</a:t>
            </a:r>
            <a:endParaRPr lang="en-US" sz="4400" dirty="0"/>
          </a:p>
        </p:txBody>
      </p:sp>
      <p:sp>
        <p:nvSpPr>
          <p:cNvPr id="3" name="Text 0"/>
          <p:cNvSpPr/>
          <p:nvPr>
            <p:ph idx="101" type="body" hasCustomPrompt="1"/>
          </p:nvPr>
        </p:nvSpPr>
        <p:spPr>
          <a:xfrm>
            <a:off x="731520" y="3749040"/>
            <a:ext cx="10424160" cy="914400"/>
          </a:xfrm>
          <a:prstGeom prst="rect">
            <a:avLst/>
          </a:prstGeom>
          <a:noFill/>
          <a:ln/>
        </p:spPr>
        <p:txBody>
          <a:bodyPr wrap="square" rtlCol="0" anchor="t"/>
          <a:lstStyle/>
          <a:p>
            <a:pPr algn="l" indent="0" marL="0">
              <a:buNone/>
            </a:pPr>
            <a:r>
              <a:rPr lang="en-US" sz="2000" dirty="0">
                <a:solidFill>
                  <a:schemeClr val="bg2"/>
                </a:solidFill>
              </a:rPr>
              <a:t>Account review across 10 projects  |  [Customer name]  |  [Date]</a:t>
            </a:r>
            <a:endParaRPr lang="en-US" sz="2000" dirty="0"/>
          </a:p>
        </p:txBody>
      </p:sp>
      <p:sp>
        <p:nvSpPr>
          <p:cNvPr id="4" name="Motif large"/>
          <p:cNvSpPr/>
          <p:nvPr/>
        </p:nvSpPr>
        <p:spPr>
          <a:xfrm>
            <a:off x="9692640" y="5029200"/>
            <a:ext cx="1463040" cy="1463040"/>
          </a:xfrm>
          <a:prstGeom prst="ellipse">
            <a:avLst/>
          </a:prstGeom>
          <a:solidFill>
            <a:schemeClr val="accent1"/>
          </a:solidFill>
          <a:ln w="12700">
            <a:solidFill>
              <a:schemeClr val="accent1"/>
            </a:solidFill>
            <a:prstDash val="solid"/>
          </a:ln>
        </p:spPr>
      </p:sp>
      <p:sp>
        <p:nvSpPr>
          <p:cNvPr id="5" name="Motif small"/>
          <p:cNvSpPr/>
          <p:nvPr/>
        </p:nvSpPr>
        <p:spPr>
          <a:xfrm>
            <a:off x="9052560" y="5760720"/>
            <a:ext cx="731520" cy="731520"/>
          </a:xfrm>
          <a:prstGeom prst="ellipse">
            <a:avLst/>
          </a:prstGeom>
          <a:solidFill>
            <a:schemeClr val="accent2"/>
          </a:solidFill>
          <a:ln w="12700">
            <a:solidFill>
              <a:schemeClr val="accent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Where we stand and what we propose</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EXECUTIVE SUMMARY</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Dashboard sheet. Illustrative sample data (P01, P02); replace with actuals before presenting.</a:t>
            </a:r>
            <a:endParaRPr lang="en-US" sz="1000" dirty="0"/>
          </a:p>
        </p:txBody>
      </p:sp>
      <p:sp>
        <p:nvSpPr>
          <p:cNvPr id="5" name="KPI 1"/>
          <p:cNvSpPr/>
          <p:nvPr/>
        </p:nvSpPr>
        <p:spPr>
          <a:xfrm>
            <a:off x="548640" y="1371600"/>
            <a:ext cx="1737360" cy="1371600"/>
          </a:xfrm>
          <a:prstGeom prst="roundRect">
            <a:avLst>
              <a:gd name="adj" fmla="val 4000"/>
            </a:avLst>
          </a:prstGeom>
          <a:solidFill>
            <a:schemeClr val="bg2"/>
          </a:solidFill>
          <a:ln w="12700">
            <a:solidFill>
              <a:schemeClr val="bg2"/>
            </a:solidFill>
            <a:prstDash val="solid"/>
          </a:ln>
        </p:spPr>
      </p:sp>
      <p:sp>
        <p:nvSpPr>
          <p:cNvPr id="6" name="KPI value 1"/>
          <p:cNvSpPr txBox="1"/>
          <p:nvPr/>
        </p:nvSpPr>
        <p:spPr>
          <a:xfrm>
            <a:off x="640080" y="1508760"/>
            <a:ext cx="1554480" cy="64008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2 of 10</a:t>
            </a:r>
            <a:endParaRPr lang="en-US" sz="2800" dirty="0"/>
          </a:p>
        </p:txBody>
      </p:sp>
      <p:sp>
        <p:nvSpPr>
          <p:cNvPr id="7" name="KPI label 1"/>
          <p:cNvSpPr txBox="1"/>
          <p:nvPr/>
        </p:nvSpPr>
        <p:spPr>
          <a:xfrm>
            <a:off x="640080" y="2194560"/>
            <a:ext cx="1554480" cy="45720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projects reporting</a:t>
            </a:r>
            <a:endParaRPr lang="en-US" sz="1300" dirty="0"/>
          </a:p>
        </p:txBody>
      </p:sp>
      <p:sp>
        <p:nvSpPr>
          <p:cNvPr id="8" name="KPI 2"/>
          <p:cNvSpPr/>
          <p:nvPr/>
        </p:nvSpPr>
        <p:spPr>
          <a:xfrm>
            <a:off x="2423160" y="1371600"/>
            <a:ext cx="1737360" cy="1371600"/>
          </a:xfrm>
          <a:prstGeom prst="roundRect">
            <a:avLst>
              <a:gd name="adj" fmla="val 4000"/>
            </a:avLst>
          </a:prstGeom>
          <a:solidFill>
            <a:schemeClr val="bg2"/>
          </a:solidFill>
          <a:ln w="12700">
            <a:solidFill>
              <a:schemeClr val="bg2"/>
            </a:solidFill>
            <a:prstDash val="solid"/>
          </a:ln>
        </p:spPr>
      </p:sp>
      <p:sp>
        <p:nvSpPr>
          <p:cNvPr id="9" name="KPI value 2"/>
          <p:cNvSpPr txBox="1"/>
          <p:nvPr/>
        </p:nvSpPr>
        <p:spPr>
          <a:xfrm>
            <a:off x="2514600" y="1508760"/>
            <a:ext cx="1554480" cy="64008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70%</a:t>
            </a:r>
            <a:endParaRPr lang="en-US" sz="2800" dirty="0"/>
          </a:p>
        </p:txBody>
      </p:sp>
      <p:sp>
        <p:nvSpPr>
          <p:cNvPr id="10" name="KPI label 2"/>
          <p:cNvSpPr txBox="1"/>
          <p:nvPr/>
        </p:nvSpPr>
        <p:spPr>
          <a:xfrm>
            <a:off x="2514600" y="2194560"/>
            <a:ext cx="1554480" cy="45720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licences active</a:t>
            </a:r>
            <a:endParaRPr lang="en-US" sz="1300" dirty="0"/>
          </a:p>
        </p:txBody>
      </p:sp>
      <p:sp>
        <p:nvSpPr>
          <p:cNvPr id="11" name="KPI 3"/>
          <p:cNvSpPr/>
          <p:nvPr/>
        </p:nvSpPr>
        <p:spPr>
          <a:xfrm>
            <a:off x="4297680" y="1371600"/>
            <a:ext cx="1737360" cy="1371600"/>
          </a:xfrm>
          <a:prstGeom prst="roundRect">
            <a:avLst>
              <a:gd name="adj" fmla="val 4000"/>
            </a:avLst>
          </a:prstGeom>
          <a:solidFill>
            <a:schemeClr val="bg2"/>
          </a:solidFill>
          <a:ln w="12700">
            <a:solidFill>
              <a:schemeClr val="bg2"/>
            </a:solidFill>
            <a:prstDash val="solid"/>
          </a:ln>
        </p:spPr>
      </p:sp>
      <p:sp>
        <p:nvSpPr>
          <p:cNvPr id="12" name="KPI value 3"/>
          <p:cNvSpPr txBox="1"/>
          <p:nvPr/>
        </p:nvSpPr>
        <p:spPr>
          <a:xfrm>
            <a:off x="4389120" y="1508760"/>
            <a:ext cx="1554480" cy="64008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33%</a:t>
            </a:r>
            <a:endParaRPr lang="en-US" sz="2800" dirty="0"/>
          </a:p>
        </p:txBody>
      </p:sp>
      <p:sp>
        <p:nvSpPr>
          <p:cNvPr id="13" name="KPI label 3"/>
          <p:cNvSpPr txBox="1"/>
          <p:nvPr/>
        </p:nvSpPr>
        <p:spPr>
          <a:xfrm>
            <a:off x="4389120" y="2194560"/>
            <a:ext cx="1554480" cy="45720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PRs with AI review</a:t>
            </a:r>
            <a:endParaRPr lang="en-US" sz="1300" dirty="0"/>
          </a:p>
        </p:txBody>
      </p:sp>
      <p:sp>
        <p:nvSpPr>
          <p:cNvPr id="14" name="KPI 4"/>
          <p:cNvSpPr/>
          <p:nvPr/>
        </p:nvSpPr>
        <p:spPr>
          <a:xfrm>
            <a:off x="6172200" y="1371600"/>
            <a:ext cx="1737360" cy="1371600"/>
          </a:xfrm>
          <a:prstGeom prst="roundRect">
            <a:avLst>
              <a:gd name="adj" fmla="val 4000"/>
            </a:avLst>
          </a:prstGeom>
          <a:solidFill>
            <a:schemeClr val="bg2"/>
          </a:solidFill>
          <a:ln w="12700">
            <a:solidFill>
              <a:schemeClr val="bg2"/>
            </a:solidFill>
            <a:prstDash val="solid"/>
          </a:ln>
        </p:spPr>
      </p:sp>
      <p:sp>
        <p:nvSpPr>
          <p:cNvPr id="15" name="KPI value 4"/>
          <p:cNvSpPr txBox="1"/>
          <p:nvPr/>
        </p:nvSpPr>
        <p:spPr>
          <a:xfrm>
            <a:off x="6263640" y="1508760"/>
            <a:ext cx="1554480" cy="64008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-8.6%</a:t>
            </a:r>
            <a:endParaRPr lang="en-US" sz="2800" dirty="0"/>
          </a:p>
        </p:txBody>
      </p:sp>
      <p:sp>
        <p:nvSpPr>
          <p:cNvPr id="16" name="KPI label 4"/>
          <p:cNvSpPr txBox="1"/>
          <p:nvPr/>
        </p:nvSpPr>
        <p:spPr>
          <a:xfrm>
            <a:off x="6263640" y="2194560"/>
            <a:ext cx="1554480" cy="45720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review rounds / PR</a:t>
            </a:r>
            <a:endParaRPr lang="en-US" sz="1300" dirty="0"/>
          </a:p>
        </p:txBody>
      </p:sp>
      <p:sp>
        <p:nvSpPr>
          <p:cNvPr id="17" name="KPI 5"/>
          <p:cNvSpPr/>
          <p:nvPr/>
        </p:nvSpPr>
        <p:spPr>
          <a:xfrm>
            <a:off x="8046720" y="1371600"/>
            <a:ext cx="1737360" cy="1371600"/>
          </a:xfrm>
          <a:prstGeom prst="roundRect">
            <a:avLst>
              <a:gd name="adj" fmla="val 4000"/>
            </a:avLst>
          </a:prstGeom>
          <a:solidFill>
            <a:schemeClr val="bg2"/>
          </a:solidFill>
          <a:ln w="12700">
            <a:solidFill>
              <a:schemeClr val="bg2"/>
            </a:solidFill>
            <a:prstDash val="solid"/>
          </a:ln>
        </p:spPr>
      </p:sp>
      <p:sp>
        <p:nvSpPr>
          <p:cNvPr id="18" name="KPI value 5"/>
          <p:cNvSpPr txBox="1"/>
          <p:nvPr/>
        </p:nvSpPr>
        <p:spPr>
          <a:xfrm>
            <a:off x="8138160" y="1508760"/>
            <a:ext cx="1554480" cy="64008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-12.0%</a:t>
            </a:r>
            <a:endParaRPr lang="en-US" sz="2800" dirty="0"/>
          </a:p>
        </p:txBody>
      </p:sp>
      <p:sp>
        <p:nvSpPr>
          <p:cNvPr id="19" name="KPI label 5"/>
          <p:cNvSpPr txBox="1"/>
          <p:nvPr/>
        </p:nvSpPr>
        <p:spPr>
          <a:xfrm>
            <a:off x="8138160" y="2194560"/>
            <a:ext cx="1554480" cy="45720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PR cycle time</a:t>
            </a:r>
            <a:endParaRPr lang="en-US" sz="1300" dirty="0"/>
          </a:p>
        </p:txBody>
      </p:sp>
      <p:sp>
        <p:nvSpPr>
          <p:cNvPr id="20" name="KPI 6"/>
          <p:cNvSpPr/>
          <p:nvPr/>
        </p:nvSpPr>
        <p:spPr>
          <a:xfrm>
            <a:off x="9921240" y="1371600"/>
            <a:ext cx="1737360" cy="1371600"/>
          </a:xfrm>
          <a:prstGeom prst="roundRect">
            <a:avLst>
              <a:gd name="adj" fmla="val 4000"/>
            </a:avLst>
          </a:prstGeom>
          <a:solidFill>
            <a:schemeClr val="bg2"/>
          </a:solidFill>
          <a:ln w="12700">
            <a:solidFill>
              <a:schemeClr val="bg2"/>
            </a:solidFill>
            <a:prstDash val="solid"/>
          </a:ln>
        </p:spPr>
      </p:sp>
      <p:sp>
        <p:nvSpPr>
          <p:cNvPr id="21" name="KPI value 6"/>
          <p:cNvSpPr txBox="1"/>
          <p:nvPr/>
        </p:nvSpPr>
        <p:spPr>
          <a:xfrm>
            <a:off x="10012680" y="1508760"/>
            <a:ext cx="1554480" cy="640080"/>
          </a:xfrm>
          <a:prstGeom prst="rect">
            <a:avLst/>
          </a:prstGeom>
          <a:noFill/>
          <a:ln/>
        </p:spPr>
        <p:txBody>
          <a:bodyPr wrap="square" lIns="0" tIns="0" rIns="0" bIns="0" rtlCol="0" anchor="t"/>
          <a:lstStyle/>
          <a:p>
            <a:pPr algn="ctr" indent="0" marL="0">
              <a:buNone/>
            </a:pPr>
            <a:r>
              <a:rPr lang="en-US" sz="2800" b="1" dirty="0">
                <a:solidFill>
                  <a:schemeClr val="tx2"/>
                </a:solidFill>
                <a:latin typeface="Cambria" pitchFamily="34" charset="0"/>
                <a:ea typeface="Cambria" pitchFamily="34" charset="-122"/>
                <a:cs typeface="Cambria" pitchFamily="34" charset="-120"/>
              </a:rPr>
              <a:t>64%</a:t>
            </a:r>
            <a:endParaRPr lang="en-US" sz="2800" dirty="0"/>
          </a:p>
        </p:txBody>
      </p:sp>
      <p:sp>
        <p:nvSpPr>
          <p:cNvPr id="22" name="KPI label 6"/>
          <p:cNvSpPr txBox="1"/>
          <p:nvPr/>
        </p:nvSpPr>
        <p:spPr>
          <a:xfrm>
            <a:off x="10012680" y="2194560"/>
            <a:ext cx="1554480" cy="45720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findings accepted</a:t>
            </a:r>
            <a:endParaRPr lang="en-US" sz="1300" dirty="0"/>
          </a:p>
        </p:txBody>
      </p:sp>
      <p:sp>
        <p:nvSpPr>
          <p:cNvPr id="23" name="Message card 0"/>
          <p:cNvSpPr/>
          <p:nvPr/>
        </p:nvSpPr>
        <p:spPr>
          <a:xfrm>
            <a:off x="548640" y="2971800"/>
            <a:ext cx="3566160" cy="2377440"/>
          </a:xfrm>
          <a:prstGeom prst="roundRect">
            <a:avLst>
              <a:gd name="adj" fmla="val 2308"/>
            </a:avLst>
          </a:prstGeom>
          <a:solidFill>
            <a:schemeClr val="bg2"/>
          </a:solidFill>
          <a:ln w="12700">
            <a:solidFill>
              <a:schemeClr val="bg2"/>
            </a:solidFill>
            <a:prstDash val="solid"/>
          </a:ln>
        </p:spPr>
      </p:sp>
      <p:sp>
        <p:nvSpPr>
          <p:cNvPr id="24" name="Message marker 0"/>
          <p:cNvSpPr/>
          <p:nvPr/>
        </p:nvSpPr>
        <p:spPr>
          <a:xfrm>
            <a:off x="822960" y="3200400"/>
            <a:ext cx="320040" cy="320040"/>
          </a:xfrm>
          <a:prstGeom prst="ellipse">
            <a:avLst/>
          </a:prstGeom>
          <a:solidFill>
            <a:schemeClr val="accent1"/>
          </a:solidFill>
          <a:ln w="12700">
            <a:solidFill>
              <a:schemeClr val="accent1"/>
            </a:solidFill>
            <a:prstDash val="solid"/>
          </a:ln>
        </p:spPr>
      </p:sp>
      <p:sp>
        <p:nvSpPr>
          <p:cNvPr id="25" name="Message title 0"/>
          <p:cNvSpPr txBox="1"/>
          <p:nvPr/>
        </p:nvSpPr>
        <p:spPr>
          <a:xfrm>
            <a:off x="1280160" y="3200400"/>
            <a:ext cx="2560320" cy="3200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Adoption</a:t>
            </a:r>
            <a:endParaRPr lang="en-US" sz="1800" dirty="0"/>
          </a:p>
        </p:txBody>
      </p:sp>
      <p:sp>
        <p:nvSpPr>
          <p:cNvPr id="26" name="Message bullets 0"/>
          <p:cNvSpPr txBox="1"/>
          <p:nvPr/>
        </p:nvSpPr>
        <p:spPr>
          <a:xfrm>
            <a:off x="822960" y="3749040"/>
            <a:ext cx="31089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16 of 23 licensed users active in the last 30 days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Adoption grew from 29% (Apr) to 70% (Sep) in reporting projects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AI maturity: 3 and 2 on a 0-4 scale</a:t>
            </a:r>
            <a:endParaRPr lang="en-US" sz="1400" dirty="0"/>
          </a:p>
        </p:txBody>
      </p:sp>
      <p:sp>
        <p:nvSpPr>
          <p:cNvPr id="27" name="Message card 1"/>
          <p:cNvSpPr/>
          <p:nvPr/>
        </p:nvSpPr>
        <p:spPr>
          <a:xfrm>
            <a:off x="4297680" y="2971800"/>
            <a:ext cx="3566160" cy="2377440"/>
          </a:xfrm>
          <a:prstGeom prst="roundRect">
            <a:avLst>
              <a:gd name="adj" fmla="val 2308"/>
            </a:avLst>
          </a:prstGeom>
          <a:solidFill>
            <a:schemeClr val="bg2"/>
          </a:solidFill>
          <a:ln w="12700">
            <a:solidFill>
              <a:schemeClr val="bg2"/>
            </a:solidFill>
            <a:prstDash val="solid"/>
          </a:ln>
        </p:spPr>
      </p:sp>
      <p:sp>
        <p:nvSpPr>
          <p:cNvPr id="28" name="Message marker 1"/>
          <p:cNvSpPr/>
          <p:nvPr/>
        </p:nvSpPr>
        <p:spPr>
          <a:xfrm>
            <a:off x="4572000" y="3200400"/>
            <a:ext cx="320040" cy="320040"/>
          </a:xfrm>
          <a:prstGeom prst="ellipse">
            <a:avLst/>
          </a:prstGeom>
          <a:solidFill>
            <a:schemeClr val="accent1"/>
          </a:solidFill>
          <a:ln w="12700">
            <a:solidFill>
              <a:schemeClr val="accent1"/>
            </a:solidFill>
            <a:prstDash val="solid"/>
          </a:ln>
        </p:spPr>
      </p:sp>
      <p:sp>
        <p:nvSpPr>
          <p:cNvPr id="29" name="Message title 1"/>
          <p:cNvSpPr txBox="1"/>
          <p:nvPr/>
        </p:nvSpPr>
        <p:spPr>
          <a:xfrm>
            <a:off x="5029200" y="3200400"/>
            <a:ext cx="2560320" cy="3200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Evidence</a:t>
            </a:r>
            <a:endParaRPr lang="en-US" sz="1800" dirty="0"/>
          </a:p>
        </p:txBody>
      </p:sp>
      <p:sp>
        <p:nvSpPr>
          <p:cNvPr id="30" name="Message bullets 1"/>
          <p:cNvSpPr txBox="1"/>
          <p:nvPr/>
        </p:nvSpPr>
        <p:spPr>
          <a:xfrm>
            <a:off x="4572000" y="3749040"/>
            <a:ext cx="31089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Fewer review rounds and shorter PR cycle in both projects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One project measured, one estimated; always labelled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Observation, not proof of cause</a:t>
            </a:r>
            <a:endParaRPr lang="en-US" sz="1400" dirty="0"/>
          </a:p>
        </p:txBody>
      </p:sp>
      <p:sp>
        <p:nvSpPr>
          <p:cNvPr id="31" name="Message card 2"/>
          <p:cNvSpPr/>
          <p:nvPr/>
        </p:nvSpPr>
        <p:spPr>
          <a:xfrm>
            <a:off x="8046720" y="2971800"/>
            <a:ext cx="3566160" cy="2377440"/>
          </a:xfrm>
          <a:prstGeom prst="roundRect">
            <a:avLst>
              <a:gd name="adj" fmla="val 2308"/>
            </a:avLst>
          </a:prstGeom>
          <a:solidFill>
            <a:schemeClr val="bg2"/>
          </a:solidFill>
          <a:ln w="12700">
            <a:solidFill>
              <a:schemeClr val="bg2"/>
            </a:solidFill>
            <a:prstDash val="solid"/>
          </a:ln>
        </p:spPr>
      </p:sp>
      <p:sp>
        <p:nvSpPr>
          <p:cNvPr id="32" name="Message marker 2"/>
          <p:cNvSpPr/>
          <p:nvPr/>
        </p:nvSpPr>
        <p:spPr>
          <a:xfrm>
            <a:off x="8321040" y="3200400"/>
            <a:ext cx="320040" cy="320040"/>
          </a:xfrm>
          <a:prstGeom prst="ellipse">
            <a:avLst/>
          </a:prstGeom>
          <a:solidFill>
            <a:schemeClr val="accent2"/>
          </a:solidFill>
          <a:ln w="12700">
            <a:solidFill>
              <a:schemeClr val="accent2"/>
            </a:solidFill>
            <a:prstDash val="solid"/>
          </a:ln>
        </p:spPr>
      </p:sp>
      <p:sp>
        <p:nvSpPr>
          <p:cNvPr id="33" name="Message title 2"/>
          <p:cNvSpPr txBox="1"/>
          <p:nvPr/>
        </p:nvSpPr>
        <p:spPr>
          <a:xfrm>
            <a:off x="8778240" y="3200400"/>
            <a:ext cx="2560320" cy="3200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Proposal</a:t>
            </a:r>
            <a:endParaRPr lang="en-US" sz="1800" dirty="0"/>
          </a:p>
        </p:txBody>
      </p:sp>
      <p:sp>
        <p:nvSpPr>
          <p:cNvPr id="34" name="Message bullets 2"/>
          <p:cNvSpPr txBox="1"/>
          <p:nvPr/>
        </p:nvSpPr>
        <p:spPr>
          <a:xfrm>
            <a:off x="8321040" y="3749040"/>
            <a:ext cx="31089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Baseline all 10 projects first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Run the agentic repository in advisory mode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Gate only checks proven to be reliable</a:t>
            </a:r>
            <a:endParaRPr lang="en-US" sz="1400" dirty="0"/>
          </a:p>
        </p:txBody>
      </p:sp>
      <p:sp>
        <p:nvSpPr>
          <p:cNvPr id="35" name="Principle band"/>
          <p:cNvSpPr/>
          <p:nvPr/>
        </p:nvSpPr>
        <p:spPr>
          <a:xfrm>
            <a:off x="548640" y="5532120"/>
            <a:ext cx="11064240" cy="594360"/>
          </a:xfrm>
          <a:prstGeom prst="roundRect">
            <a:avLst>
              <a:gd name="adj" fmla="val 9231"/>
            </a:avLst>
          </a:prstGeom>
          <a:solidFill>
            <a:schemeClr val="tx2"/>
          </a:solidFill>
          <a:ln w="12700">
            <a:solidFill>
              <a:schemeClr val="tx2"/>
            </a:solidFill>
            <a:prstDash val="solid"/>
          </a:ln>
        </p:spPr>
      </p:sp>
      <p:sp>
        <p:nvSpPr>
          <p:cNvPr id="36" name="Principle"/>
          <p:cNvSpPr txBox="1"/>
          <p:nvPr/>
        </p:nvSpPr>
        <p:spPr>
          <a:xfrm>
            <a:off x="822960" y="5532120"/>
            <a:ext cx="10515600" cy="59436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AI output is advisory. Humans approve rules, merges and clinical-critical changes.</a:t>
            </a:r>
            <a:endParaRPr lang="en-US" sz="16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Adoption and maturity by project</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ADOPTION</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Dashboard and Projects sheets. Illustrative sample data (P01, P02); replace with actuals before presenting.</a:t>
            </a:r>
            <a:endParaRPr lang="en-US" sz="1000" dirty="0"/>
          </a:p>
        </p:txBody>
      </p:sp>
      <p:graphicFrame>
        <p:nvGraphicFramePr>
          <p:cNvPr id="5" name="Adoption doughnut" descr=""/>
          <p:cNvGraphicFramePr/>
          <p:nvPr/>
        </p:nvGraphicFramePr>
        <p:xfrm>
          <a:off x="457200" y="1280160"/>
          <a:ext cx="3108960" cy="2926080"/>
        </p:xfrm>
        <a:graphic xmlns:a="http://schemas.openxmlformats.org/drawingml/2006/main">
          <a:graphicData uri="http://schemas.openxmlformats.org/drawingml/2006/chart">
            <c:chart xmlns:c="http://schemas.openxmlformats.org/drawingml/2006/chart" r:id="rId1"/>
          </a:graphicData>
        </a:graphic>
      </p:graphicFrame>
      <p:sp>
        <p:nvSpPr>
          <p:cNvPr id="6" name="Doughnut value"/>
          <p:cNvSpPr txBox="1"/>
          <p:nvPr/>
        </p:nvSpPr>
        <p:spPr>
          <a:xfrm>
            <a:off x="1325880" y="2468880"/>
            <a:ext cx="1371600" cy="548640"/>
          </a:xfrm>
          <a:prstGeom prst="rect">
            <a:avLst/>
          </a:prstGeom>
          <a:noFill/>
          <a:ln/>
        </p:spPr>
        <p:txBody>
          <a:bodyPr wrap="square" lIns="0" tIns="0" rIns="0" bIns="0" rtlCol="0" anchor="t"/>
          <a:lstStyle/>
          <a:p>
            <a:pPr algn="ctr" indent="0" marL="0">
              <a:buNone/>
            </a:pPr>
            <a:r>
              <a:rPr lang="en-US" sz="3200" b="1" dirty="0">
                <a:solidFill>
                  <a:schemeClr val="tx2"/>
                </a:solidFill>
                <a:latin typeface="Cambria" pitchFamily="34" charset="0"/>
                <a:ea typeface="Cambria" pitchFamily="34" charset="-122"/>
                <a:cs typeface="Cambria" pitchFamily="34" charset="-120"/>
              </a:rPr>
              <a:t>70%</a:t>
            </a:r>
            <a:endParaRPr lang="en-US" sz="3200" dirty="0"/>
          </a:p>
        </p:txBody>
      </p:sp>
      <p:sp>
        <p:nvSpPr>
          <p:cNvPr id="7" name="Doughnut label"/>
          <p:cNvSpPr txBox="1"/>
          <p:nvPr/>
        </p:nvSpPr>
        <p:spPr>
          <a:xfrm>
            <a:off x="457200" y="4160520"/>
            <a:ext cx="3108960" cy="27432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16 of 23 licences active</a:t>
            </a:r>
            <a:endParaRPr lang="en-US" sz="1300" dirty="0"/>
          </a:p>
        </p:txBody>
      </p:sp>
      <p:graphicFrame>
        <p:nvGraphicFramePr>
          <p:cNvPr id="4" name="Scorecard table"/>
          <p:cNvGraphicFramePr>
            <a:graphicFrameLocks noGrp="1"/>
          </p:cNvGraphicFramePr>
          <p:nvPr>
            <p:extLst>
              <p:ext uri="{D42A27DB-BD31-4B8C-83A1-F6EECF244321}">
                <p14:modId xmlns:p14="http://schemas.microsoft.com/office/powerpoint/2010/main" val="1579011935"/>
              </p:ext>
            </p:extLst>
          </p:nvPr>
        </p:nvGraphicFramePr>
        <p:xfrm>
          <a:off x="3840480" y="1463040"/>
          <a:ext cx="7772400" cy="914400"/>
        </p:xfrm>
        <a:graphic>
          <a:graphicData uri="http://schemas.openxmlformats.org/drawingml/2006/table">
            <a:tbl>
              <a:tblPr/>
              <a:tblGrid>
                <a:gridCol w="1737360"/>
                <a:gridCol w="1188720"/>
                <a:gridCol w="731520"/>
                <a:gridCol w="914400"/>
                <a:gridCol w="914400"/>
                <a:gridCol w="914400"/>
                <a:gridCol w="137160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Project</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Team</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Maturity</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Adoption</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AI review</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r>
              <a:tr h="457200">
                <a:tc>
                  <a:txBody>
                    <a:bodyPr/>
                    <a:lstStyle/>
                    <a:p>
                      <a:pPr algn="l" indent="0" marL="0">
                        <a:buNone/>
                      </a:pPr>
                      <a:r>
                        <a:rPr lang="en-US" sz="1300" b="1" dirty="0">
                          <a:solidFill>
                            <a:srgbClr val="10222B"/>
                          </a:solidFill>
                          <a:latin typeface="Calibri" pitchFamily="34" charset="0"/>
                          <a:ea typeface="Calibri" pitchFamily="34" charset="-122"/>
                          <a:cs typeface="Calibri" pitchFamily="34" charset="-120"/>
                        </a:rPr>
                        <a:t>Project A</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3 of 4</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On track</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D5EFE0"/>
                    </a:solidFill>
                  </a:tcPr>
                </a:tc>
              </a:tr>
              <a:tr h="457200">
                <a:tc>
                  <a:txBody>
                    <a:bodyPr/>
                    <a:lstStyle/>
                    <a:p>
                      <a:pPr algn="l" indent="0" marL="0">
                        <a:buNone/>
                      </a:pPr>
                      <a:r>
                        <a:rPr lang="en-US" sz="1300" b="1" dirty="0">
                          <a:solidFill>
                            <a:srgbClr val="10222B"/>
                          </a:solidFill>
                          <a:latin typeface="Calibri" pitchFamily="34" charset="0"/>
                          <a:ea typeface="Calibri" pitchFamily="34" charset="-122"/>
                          <a:cs typeface="Calibri" pitchFamily="34" charset="-120"/>
                        </a:rPr>
                        <a:t>Project B</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Maintenance</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2 of 4</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Watch</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FCEBC8"/>
                    </a:solidFill>
                  </a:tcPr>
                </a:tc>
              </a:tr>
              <a:tr h="548640">
                <a:tc>
                  <a:txBody>
                    <a:bodyPr/>
                    <a:lstStyle/>
                    <a:p>
                      <a:pPr algn="l" indent="0" marL="0">
                        <a:buNone/>
                      </a:pPr>
                      <a:r>
                        <a:rPr lang="en-US" sz="1300" b="1" dirty="0">
                          <a:solidFill>
                            <a:srgbClr val="10222B"/>
                          </a:solidFill>
                          <a:latin typeface="Calibri" pitchFamily="34" charset="0"/>
                          <a:ea typeface="Calibri" pitchFamily="34" charset="-122"/>
                          <a:cs typeface="Calibri" pitchFamily="34" charset="-120"/>
                        </a:rPr>
                        <a:t>Projects P03 to P10</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gridSpan="5">
                  <a:txBody>
                    <a:bodyPr/>
                    <a:lstStyle/>
                    <a:p>
                      <a:pPr algn="l" indent="0" marL="0">
                        <a:buNone/>
                      </a:pPr>
                      <a:r>
                        <a:rPr lang="en-US" sz="1300" dirty="0">
                          <a:solidFill>
                            <a:srgbClr val="6B7C85"/>
                          </a:solidFill>
                          <a:latin typeface="Calibri" pitchFamily="34" charset="0"/>
                          <a:ea typeface="Calibri" pitchFamily="34" charset="-122"/>
                          <a:cs typeface="Calibri" pitchFamily="34" charset="-120"/>
                        </a:rPr>
                        <a:t>Not yet reporting. Data requested.</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hMerge="1">
                  <a:tcPr/>
                </a:tc>
                <a:tc hMerge="1">
                  <a:tcPr/>
                </a:tc>
                <a:tc hMerge="1">
                  <a:tcPr/>
                </a:tc>
                <a:tc hMerge="1">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Not reporting</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E3E8EA"/>
                    </a:solidFill>
                  </a:tcPr>
                </a:tc>
              </a:tr>
            </a:tbl>
          </a:graphicData>
        </a:graphic>
      </p:graphicFrame>
      <p:sp>
        <p:nvSpPr>
          <p:cNvPr id="9" name="Maturity title"/>
          <p:cNvSpPr txBox="1"/>
          <p:nvPr/>
        </p:nvSpPr>
        <p:spPr>
          <a:xfrm>
            <a:off x="548640" y="4572000"/>
            <a:ext cx="365760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AI maturity scale</a:t>
            </a:r>
            <a:endParaRPr lang="en-US" sz="1400" dirty="0"/>
          </a:p>
        </p:txBody>
      </p:sp>
      <p:sp>
        <p:nvSpPr>
          <p:cNvPr id="10" name="Maturity step 0"/>
          <p:cNvSpPr/>
          <p:nvPr/>
        </p:nvSpPr>
        <p:spPr>
          <a:xfrm>
            <a:off x="548640" y="4937760"/>
            <a:ext cx="2103120" cy="1097280"/>
          </a:xfrm>
          <a:prstGeom prst="roundRect">
            <a:avLst>
              <a:gd name="adj" fmla="val 5000"/>
            </a:avLst>
          </a:prstGeom>
          <a:solidFill>
            <a:schemeClr val="bg2"/>
          </a:solidFill>
          <a:ln w="12700">
            <a:solidFill>
              <a:schemeClr val="bg2"/>
            </a:solidFill>
            <a:prstDash val="solid"/>
          </a:ln>
        </p:spPr>
      </p:sp>
      <p:sp>
        <p:nvSpPr>
          <p:cNvPr id="11" name="Maturity num 0"/>
          <p:cNvSpPr txBox="1"/>
          <p:nvPr/>
        </p:nvSpPr>
        <p:spPr>
          <a:xfrm>
            <a:off x="731520" y="5029200"/>
            <a:ext cx="4572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a:t>
            </a:r>
            <a:endParaRPr lang="en-US" sz="2400" dirty="0"/>
          </a:p>
        </p:txBody>
      </p:sp>
      <p:sp>
        <p:nvSpPr>
          <p:cNvPr id="12" name="Maturity label 0"/>
          <p:cNvSpPr txBox="1"/>
          <p:nvPr/>
        </p:nvSpPr>
        <p:spPr>
          <a:xfrm>
            <a:off x="731520" y="5532120"/>
            <a:ext cx="178308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None</a:t>
            </a:r>
            <a:endParaRPr lang="en-US" sz="1300" dirty="0"/>
          </a:p>
        </p:txBody>
      </p:sp>
      <p:sp>
        <p:nvSpPr>
          <p:cNvPr id="13" name="Maturity step 1"/>
          <p:cNvSpPr/>
          <p:nvPr/>
        </p:nvSpPr>
        <p:spPr>
          <a:xfrm>
            <a:off x="2788920" y="4937760"/>
            <a:ext cx="2103120" cy="1097280"/>
          </a:xfrm>
          <a:prstGeom prst="roundRect">
            <a:avLst>
              <a:gd name="adj" fmla="val 5000"/>
            </a:avLst>
          </a:prstGeom>
          <a:solidFill>
            <a:schemeClr val="bg2"/>
          </a:solidFill>
          <a:ln w="12700">
            <a:solidFill>
              <a:schemeClr val="bg2"/>
            </a:solidFill>
            <a:prstDash val="solid"/>
          </a:ln>
        </p:spPr>
      </p:sp>
      <p:sp>
        <p:nvSpPr>
          <p:cNvPr id="14" name="Maturity num 1"/>
          <p:cNvSpPr txBox="1"/>
          <p:nvPr/>
        </p:nvSpPr>
        <p:spPr>
          <a:xfrm>
            <a:off x="2971800" y="5029200"/>
            <a:ext cx="4572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15" name="Maturity label 1"/>
          <p:cNvSpPr txBox="1"/>
          <p:nvPr/>
        </p:nvSpPr>
        <p:spPr>
          <a:xfrm>
            <a:off x="2971800" y="5532120"/>
            <a:ext cx="178308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Individual trials</a:t>
            </a:r>
            <a:endParaRPr lang="en-US" sz="1300" dirty="0"/>
          </a:p>
        </p:txBody>
      </p:sp>
      <p:sp>
        <p:nvSpPr>
          <p:cNvPr id="16" name="Maturity step 2"/>
          <p:cNvSpPr/>
          <p:nvPr/>
        </p:nvSpPr>
        <p:spPr>
          <a:xfrm>
            <a:off x="5029200" y="4937760"/>
            <a:ext cx="2103120" cy="1097280"/>
          </a:xfrm>
          <a:prstGeom prst="roundRect">
            <a:avLst>
              <a:gd name="adj" fmla="val 5000"/>
            </a:avLst>
          </a:prstGeom>
          <a:solidFill>
            <a:schemeClr val="accent1"/>
          </a:solidFill>
          <a:ln w="12700">
            <a:solidFill>
              <a:schemeClr val="accent1"/>
            </a:solidFill>
            <a:prstDash val="solid"/>
          </a:ln>
        </p:spPr>
      </p:sp>
      <p:sp>
        <p:nvSpPr>
          <p:cNvPr id="17" name="Maturity num 2"/>
          <p:cNvSpPr txBox="1"/>
          <p:nvPr/>
        </p:nvSpPr>
        <p:spPr>
          <a:xfrm>
            <a:off x="5212080" y="5029200"/>
            <a:ext cx="45720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18" name="Maturity label 2"/>
          <p:cNvSpPr txBox="1"/>
          <p:nvPr/>
        </p:nvSpPr>
        <p:spPr>
          <a:xfrm>
            <a:off x="5212080" y="5532120"/>
            <a:ext cx="1783080" cy="4572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Team practice</a:t>
            </a:r>
            <a:endParaRPr lang="en-US" sz="1300" dirty="0"/>
          </a:p>
        </p:txBody>
      </p:sp>
      <p:sp>
        <p:nvSpPr>
          <p:cNvPr id="19" name="Maturity step 3"/>
          <p:cNvSpPr/>
          <p:nvPr/>
        </p:nvSpPr>
        <p:spPr>
          <a:xfrm>
            <a:off x="7269480" y="4937760"/>
            <a:ext cx="2103120" cy="1097280"/>
          </a:xfrm>
          <a:prstGeom prst="roundRect">
            <a:avLst>
              <a:gd name="adj" fmla="val 5000"/>
            </a:avLst>
          </a:prstGeom>
          <a:solidFill>
            <a:schemeClr val="accent1"/>
          </a:solidFill>
          <a:ln w="12700">
            <a:solidFill>
              <a:schemeClr val="accent1"/>
            </a:solidFill>
            <a:prstDash val="solid"/>
          </a:ln>
        </p:spPr>
      </p:sp>
      <p:sp>
        <p:nvSpPr>
          <p:cNvPr id="20" name="Maturity num 3"/>
          <p:cNvSpPr txBox="1"/>
          <p:nvPr/>
        </p:nvSpPr>
        <p:spPr>
          <a:xfrm>
            <a:off x="7452360" y="5029200"/>
            <a:ext cx="45720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21" name="Maturity label 3"/>
          <p:cNvSpPr txBox="1"/>
          <p:nvPr/>
        </p:nvSpPr>
        <p:spPr>
          <a:xfrm>
            <a:off x="7452360" y="5532120"/>
            <a:ext cx="1783080" cy="4572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In workflow, measured</a:t>
            </a:r>
            <a:endParaRPr lang="en-US" sz="1300" dirty="0"/>
          </a:p>
        </p:txBody>
      </p:sp>
      <p:sp>
        <p:nvSpPr>
          <p:cNvPr id="22" name="Maturity step 4"/>
          <p:cNvSpPr/>
          <p:nvPr/>
        </p:nvSpPr>
        <p:spPr>
          <a:xfrm>
            <a:off x="9509760" y="4937760"/>
            <a:ext cx="2103120" cy="1097280"/>
          </a:xfrm>
          <a:prstGeom prst="roundRect">
            <a:avLst>
              <a:gd name="adj" fmla="val 5000"/>
            </a:avLst>
          </a:prstGeom>
          <a:solidFill>
            <a:schemeClr val="bg2"/>
          </a:solidFill>
          <a:ln w="12700">
            <a:solidFill>
              <a:schemeClr val="bg2"/>
            </a:solidFill>
            <a:prstDash val="solid"/>
          </a:ln>
        </p:spPr>
      </p:sp>
      <p:sp>
        <p:nvSpPr>
          <p:cNvPr id="23" name="Maturity num 4"/>
          <p:cNvSpPr txBox="1"/>
          <p:nvPr/>
        </p:nvSpPr>
        <p:spPr>
          <a:xfrm>
            <a:off x="9692640" y="5029200"/>
            <a:ext cx="4572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24" name="Maturity label 4"/>
          <p:cNvSpPr txBox="1"/>
          <p:nvPr/>
        </p:nvSpPr>
        <p:spPr>
          <a:xfrm>
            <a:off x="9692640" y="5532120"/>
            <a:ext cx="178308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Governed, improving</a:t>
            </a:r>
            <a:endParaRPr lang="en-US" sz="1300" dirty="0"/>
          </a:p>
        </p:txBody>
      </p:sp>
      <p:sp>
        <p:nvSpPr>
          <p:cNvPr id="25" name="Maturity legend"/>
          <p:cNvSpPr txBox="1"/>
          <p:nvPr/>
        </p:nvSpPr>
        <p:spPr>
          <a:xfrm>
            <a:off x="5669280" y="4572000"/>
            <a:ext cx="5943600" cy="274320"/>
          </a:xfrm>
          <a:prstGeom prst="rect">
            <a:avLst/>
          </a:prstGeom>
          <a:noFill/>
          <a:ln/>
        </p:spPr>
        <p:txBody>
          <a:bodyPr wrap="square" lIns="0" tIns="0" rIns="0" bIns="0" rtlCol="0" anchor="t"/>
          <a:lstStyle/>
          <a:p>
            <a:pPr algn="r" indent="0" marL="0">
              <a:buNone/>
            </a:pPr>
            <a:r>
              <a:rPr lang="en-US" sz="1200" dirty="0">
                <a:solidFill>
                  <a:schemeClr val="accent6"/>
                </a:solidFill>
                <a:latin typeface="Calibri" pitchFamily="34" charset="0"/>
                <a:ea typeface="Calibri" pitchFamily="34" charset="-122"/>
                <a:cs typeface="Calibri" pitchFamily="34" charset="-120"/>
              </a:rPr>
              <a:t>Project B: level 2 | Project A: level 3</a:t>
            </a:r>
            <a:endParaRPr lang="en-US" sz="12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Growth is real, and concentrated in coding</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ADOPTION OVER TIME AND BY SDLC PHASE</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Trend and SDLC Usage sheets. Illustrative sample data (P01, P02); replace with actuals before presenting.</a:t>
            </a:r>
            <a:endParaRPr lang="en-US" sz="1000" dirty="0"/>
          </a:p>
        </p:txBody>
      </p:sp>
      <p:graphicFrame>
        <p:nvGraphicFramePr>
          <p:cNvPr id="5" name="Trend chart" descr=""/>
          <p:cNvGraphicFramePr/>
          <p:nvPr/>
        </p:nvGraphicFramePr>
        <p:xfrm>
          <a:off x="548640" y="1325880"/>
          <a:ext cx="576072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SDLC chart" descr=""/>
          <p:cNvGraphicFramePr/>
          <p:nvPr/>
        </p:nvGraphicFramePr>
        <p:xfrm>
          <a:off x="6492240" y="1325880"/>
          <a:ext cx="5120640" cy="3383280"/>
        </p:xfrm>
        <a:graphic xmlns:a="http://schemas.openxmlformats.org/drawingml/2006/main">
          <a:graphicData uri="http://schemas.openxmlformats.org/drawingml/2006/chart">
            <c:chart xmlns:c="http://schemas.openxmlformats.org/drawingml/2006/chart" r:id="rId2"/>
          </a:graphicData>
        </a:graphic>
      </p:graphicFrame>
      <p:sp>
        <p:nvSpPr>
          <p:cNvPr id="7" name="Trend note"/>
          <p:cNvSpPr/>
          <p:nvPr/>
        </p:nvSpPr>
        <p:spPr>
          <a:xfrm>
            <a:off x="548640" y="4892040"/>
            <a:ext cx="5760720" cy="1188720"/>
          </a:xfrm>
          <a:prstGeom prst="roundRect">
            <a:avLst>
              <a:gd name="adj" fmla="val 4615"/>
            </a:avLst>
          </a:prstGeom>
          <a:solidFill>
            <a:schemeClr val="bg2"/>
          </a:solidFill>
          <a:ln w="12700">
            <a:solidFill>
              <a:schemeClr val="bg2"/>
            </a:solidFill>
            <a:prstDash val="solid"/>
          </a:ln>
        </p:spPr>
      </p:sp>
      <p:sp>
        <p:nvSpPr>
          <p:cNvPr id="8" name="Trend bullets"/>
          <p:cNvSpPr txBox="1"/>
          <p:nvPr/>
        </p:nvSpPr>
        <p:spPr>
          <a:xfrm>
            <a:off x="777240" y="5029200"/>
            <a:ext cx="5394960" cy="10058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Active use rose in every month reporting</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AI-assisted PR review is 40% in Sep, from none in Apr</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Adoption is not the same as value delivered</a:t>
            </a:r>
            <a:endParaRPr lang="en-US" sz="1400" dirty="0"/>
          </a:p>
        </p:txBody>
      </p:sp>
      <p:sp>
        <p:nvSpPr>
          <p:cNvPr id="9" name="SDLC note"/>
          <p:cNvSpPr/>
          <p:nvPr/>
        </p:nvSpPr>
        <p:spPr>
          <a:xfrm>
            <a:off x="6492240" y="4892040"/>
            <a:ext cx="5120640" cy="1188720"/>
          </a:xfrm>
          <a:prstGeom prst="roundRect">
            <a:avLst>
              <a:gd name="adj" fmla="val 4615"/>
            </a:avLst>
          </a:prstGeom>
          <a:solidFill>
            <a:schemeClr val="bg2"/>
          </a:solidFill>
          <a:ln w="12700">
            <a:solidFill>
              <a:schemeClr val="bg2"/>
            </a:solidFill>
            <a:prstDash val="solid"/>
          </a:ln>
        </p:spPr>
      </p:sp>
      <p:sp>
        <p:nvSpPr>
          <p:cNvPr id="10" name="SDLC bullets"/>
          <p:cNvSpPr txBox="1"/>
          <p:nvPr/>
        </p:nvSpPr>
        <p:spPr>
          <a:xfrm>
            <a:off x="6720840" y="5029200"/>
            <a:ext cx="4754880" cy="10058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Regular use today: coding, code review, documentation</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Planning, design, testing and release are still pilots or unused</a:t>
            </a:r>
            <a:endParaRPr lang="en-US" sz="14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Review effort and flow: baseline vs current</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DELIVERY METRICS</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Metrics sheet. Illustrative sample data (P01, P02); replace with actuals before presenting.</a:t>
            </a:r>
            <a:endParaRPr lang="en-US" sz="1000" dirty="0"/>
          </a:p>
        </p:txBody>
      </p:sp>
      <p:graphicFrame>
        <p:nvGraphicFramePr>
          <p:cNvPr id="5" name="Metric chart 1" descr=""/>
          <p:cNvGraphicFramePr/>
          <p:nvPr/>
        </p:nvGraphicFramePr>
        <p:xfrm>
          <a:off x="548640" y="1325880"/>
          <a:ext cx="3566160" cy="3017520"/>
        </p:xfrm>
        <a:graphic xmlns:a="http://schemas.openxmlformats.org/drawingml/2006/main">
          <a:graphicData uri="http://schemas.openxmlformats.org/drawingml/2006/chart">
            <c:chart xmlns:c="http://schemas.openxmlformats.org/drawingml/2006/chart" r:id="rId1"/>
          </a:graphicData>
        </a:graphic>
      </p:graphicFrame>
      <p:sp>
        <p:nvSpPr>
          <p:cNvPr id="6" name="Change 0"/>
          <p:cNvSpPr txBox="1"/>
          <p:nvPr/>
        </p:nvSpPr>
        <p:spPr>
          <a:xfrm>
            <a:off x="548640" y="4389120"/>
            <a:ext cx="3566160" cy="274320"/>
          </a:xfrm>
          <a:prstGeom prst="rect">
            <a:avLst/>
          </a:prstGeom>
          <a:noFill/>
          <a:ln/>
        </p:spPr>
        <p:txBody>
          <a:bodyPr wrap="square" lIns="0" tIns="0" rIns="0" bIns="0" rtlCol="0" anchor="t"/>
          <a:lstStyle/>
          <a:p>
            <a:pPr algn="ctr" indent="0" marL="0">
              <a:buNone/>
            </a:pPr>
            <a:r>
              <a:rPr lang="en-US" sz="1200" b="1" dirty="0">
                <a:solidFill>
                  <a:schemeClr val="accent5"/>
                </a:solidFill>
                <a:latin typeface="Calibri" pitchFamily="34" charset="0"/>
                <a:ea typeface="Calibri" pitchFamily="34" charset="-122"/>
                <a:cs typeface="Calibri" pitchFamily="34" charset="-120"/>
              </a:rPr>
              <a:t>Change A / B: -12.5% / -4.8%</a:t>
            </a:r>
            <a:endParaRPr lang="en-US" sz="1200" dirty="0"/>
          </a:p>
        </p:txBody>
      </p:sp>
      <p:graphicFrame>
        <p:nvGraphicFramePr>
          <p:cNvPr id="7" name="Metric chart 2" descr=""/>
          <p:cNvGraphicFramePr/>
          <p:nvPr/>
        </p:nvGraphicFramePr>
        <p:xfrm>
          <a:off x="4297680" y="1325880"/>
          <a:ext cx="3566160" cy="3017520"/>
        </p:xfrm>
        <a:graphic xmlns:a="http://schemas.openxmlformats.org/drawingml/2006/main">
          <a:graphicData uri="http://schemas.openxmlformats.org/drawingml/2006/chart">
            <c:chart xmlns:c="http://schemas.openxmlformats.org/drawingml/2006/chart" r:id="rId2"/>
          </a:graphicData>
        </a:graphic>
      </p:graphicFrame>
      <p:sp>
        <p:nvSpPr>
          <p:cNvPr id="8" name="Change 1"/>
          <p:cNvSpPr txBox="1"/>
          <p:nvPr/>
        </p:nvSpPr>
        <p:spPr>
          <a:xfrm>
            <a:off x="4297680" y="4389120"/>
            <a:ext cx="3566160" cy="274320"/>
          </a:xfrm>
          <a:prstGeom prst="rect">
            <a:avLst/>
          </a:prstGeom>
          <a:noFill/>
          <a:ln/>
        </p:spPr>
        <p:txBody>
          <a:bodyPr wrap="square" lIns="0" tIns="0" rIns="0" bIns="0" rtlCol="0" anchor="t"/>
          <a:lstStyle/>
          <a:p>
            <a:pPr algn="ctr" indent="0" marL="0">
              <a:buNone/>
            </a:pPr>
            <a:r>
              <a:rPr lang="en-US" sz="1200" b="1" dirty="0">
                <a:solidFill>
                  <a:schemeClr val="accent5"/>
                </a:solidFill>
                <a:latin typeface="Calibri" pitchFamily="34" charset="0"/>
                <a:ea typeface="Calibri" pitchFamily="34" charset="-122"/>
                <a:cs typeface="Calibri" pitchFamily="34" charset="-120"/>
              </a:rPr>
              <a:t>Change A / B: -13.2% / -3.8%</a:t>
            </a:r>
            <a:endParaRPr lang="en-US" sz="1200" dirty="0"/>
          </a:p>
        </p:txBody>
      </p:sp>
      <p:graphicFrame>
        <p:nvGraphicFramePr>
          <p:cNvPr id="9" name="Metric chart 3" descr=""/>
          <p:cNvGraphicFramePr/>
          <p:nvPr/>
        </p:nvGraphicFramePr>
        <p:xfrm>
          <a:off x="8046720" y="1325880"/>
          <a:ext cx="3566160" cy="3017520"/>
        </p:xfrm>
        <a:graphic xmlns:a="http://schemas.openxmlformats.org/drawingml/2006/main">
          <a:graphicData uri="http://schemas.openxmlformats.org/drawingml/2006/chart">
            <c:chart xmlns:c="http://schemas.openxmlformats.org/drawingml/2006/chart" r:id="rId3"/>
          </a:graphicData>
        </a:graphic>
      </p:graphicFrame>
      <p:sp>
        <p:nvSpPr>
          <p:cNvPr id="10" name="Change 2"/>
          <p:cNvSpPr txBox="1"/>
          <p:nvPr/>
        </p:nvSpPr>
        <p:spPr>
          <a:xfrm>
            <a:off x="8046720" y="4389120"/>
            <a:ext cx="3566160" cy="274320"/>
          </a:xfrm>
          <a:prstGeom prst="rect">
            <a:avLst/>
          </a:prstGeom>
          <a:noFill/>
          <a:ln/>
        </p:spPr>
        <p:txBody>
          <a:bodyPr wrap="square" lIns="0" tIns="0" rIns="0" bIns="0" rtlCol="0" anchor="t"/>
          <a:lstStyle/>
          <a:p>
            <a:pPr algn="ctr" indent="0" marL="0">
              <a:buNone/>
            </a:pPr>
            <a:r>
              <a:rPr lang="en-US" sz="1200" b="1" dirty="0">
                <a:solidFill>
                  <a:schemeClr val="accent5"/>
                </a:solidFill>
                <a:latin typeface="Calibri" pitchFamily="34" charset="0"/>
                <a:ea typeface="Calibri" pitchFamily="34" charset="-122"/>
                <a:cs typeface="Calibri" pitchFamily="34" charset="-120"/>
              </a:rPr>
              <a:t>Change A / B: -15.4% / -8.7%</a:t>
            </a:r>
            <a:endParaRPr lang="en-US" sz="1200" dirty="0"/>
          </a:p>
        </p:txBody>
      </p:sp>
      <p:sp>
        <p:nvSpPr>
          <p:cNvPr id="11" name="Survey card"/>
          <p:cNvSpPr/>
          <p:nvPr/>
        </p:nvSpPr>
        <p:spPr>
          <a:xfrm>
            <a:off x="548640" y="4846320"/>
            <a:ext cx="6766560" cy="1280160"/>
          </a:xfrm>
          <a:prstGeom prst="roundRect">
            <a:avLst>
              <a:gd name="adj" fmla="val 4286"/>
            </a:avLst>
          </a:prstGeom>
          <a:solidFill>
            <a:schemeClr val="bg2"/>
          </a:solidFill>
          <a:ln w="12700">
            <a:solidFill>
              <a:schemeClr val="bg2"/>
            </a:solidFill>
            <a:prstDash val="solid"/>
          </a:ln>
        </p:spPr>
      </p:sp>
      <p:sp>
        <p:nvSpPr>
          <p:cNvPr id="12" name="Survey value 0"/>
          <p:cNvSpPr txBox="1"/>
          <p:nvPr/>
        </p:nvSpPr>
        <p:spPr>
          <a:xfrm>
            <a:off x="731520" y="4937760"/>
            <a:ext cx="201168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19</a:t>
            </a:r>
            <a:endParaRPr lang="en-US" sz="2600" dirty="0"/>
          </a:p>
        </p:txBody>
      </p:sp>
      <p:sp>
        <p:nvSpPr>
          <p:cNvPr id="13" name="Survey label 0"/>
          <p:cNvSpPr txBox="1"/>
          <p:nvPr/>
        </p:nvSpPr>
        <p:spPr>
          <a:xfrm>
            <a:off x="731520" y="5486400"/>
            <a:ext cx="201168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survey respondents</a:t>
            </a:r>
            <a:endParaRPr lang="en-US" sz="1200" dirty="0"/>
          </a:p>
        </p:txBody>
      </p:sp>
      <p:sp>
        <p:nvSpPr>
          <p:cNvPr id="14" name="Survey value 1"/>
          <p:cNvSpPr txBox="1"/>
          <p:nvPr/>
        </p:nvSpPr>
        <p:spPr>
          <a:xfrm>
            <a:off x="2926080" y="4937760"/>
            <a:ext cx="201168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68%</a:t>
            </a:r>
            <a:endParaRPr lang="en-US" sz="2600" dirty="0"/>
          </a:p>
        </p:txBody>
      </p:sp>
      <p:sp>
        <p:nvSpPr>
          <p:cNvPr id="15" name="Survey label 1"/>
          <p:cNvSpPr txBox="1"/>
          <p:nvPr/>
        </p:nvSpPr>
        <p:spPr>
          <a:xfrm>
            <a:off x="2926080" y="5486400"/>
            <a:ext cx="201168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report saving time</a:t>
            </a:r>
            <a:endParaRPr lang="en-US" sz="1200" dirty="0"/>
          </a:p>
        </p:txBody>
      </p:sp>
      <p:sp>
        <p:nvSpPr>
          <p:cNvPr id="16" name="Survey value 2"/>
          <p:cNvSpPr txBox="1"/>
          <p:nvPr/>
        </p:nvSpPr>
        <p:spPr>
          <a:xfrm>
            <a:off x="5120640" y="4937760"/>
            <a:ext cx="201168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2.1 h</a:t>
            </a:r>
            <a:endParaRPr lang="en-US" sz="2600" dirty="0"/>
          </a:p>
        </p:txBody>
      </p:sp>
      <p:sp>
        <p:nvSpPr>
          <p:cNvPr id="17" name="Survey label 2"/>
          <p:cNvSpPr txBox="1"/>
          <p:nvPr/>
        </p:nvSpPr>
        <p:spPr>
          <a:xfrm>
            <a:off x="5120640" y="5486400"/>
            <a:ext cx="2011680" cy="5029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saved per week, self-reported</a:t>
            </a:r>
            <a:endParaRPr lang="en-US" sz="1200" dirty="0"/>
          </a:p>
        </p:txBody>
      </p:sp>
      <p:sp>
        <p:nvSpPr>
          <p:cNvPr id="18" name="Basis card"/>
          <p:cNvSpPr/>
          <p:nvPr/>
        </p:nvSpPr>
        <p:spPr>
          <a:xfrm>
            <a:off x="7498080" y="4846320"/>
            <a:ext cx="4114800" cy="1280160"/>
          </a:xfrm>
          <a:prstGeom prst="roundRect">
            <a:avLst>
              <a:gd name="adj" fmla="val 4286"/>
            </a:avLst>
          </a:prstGeom>
          <a:solidFill>
            <a:schemeClr val="bg2"/>
          </a:solidFill>
          <a:ln w="12700">
            <a:solidFill>
              <a:schemeClr val="bg2"/>
            </a:solidFill>
            <a:prstDash val="solid"/>
          </a:ln>
        </p:spPr>
      </p:sp>
      <p:sp>
        <p:nvSpPr>
          <p:cNvPr id="19" name="Basis title"/>
          <p:cNvSpPr txBox="1"/>
          <p:nvPr/>
        </p:nvSpPr>
        <p:spPr>
          <a:xfrm>
            <a:off x="7726680" y="4937760"/>
            <a:ext cx="182880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Evidence basis</a:t>
            </a:r>
            <a:endParaRPr lang="en-US" sz="1400" dirty="0"/>
          </a:p>
        </p:txBody>
      </p:sp>
      <p:sp>
        <p:nvSpPr>
          <p:cNvPr id="20" name="Chip measured"/>
          <p:cNvSpPr/>
          <p:nvPr/>
        </p:nvSpPr>
        <p:spPr>
          <a:xfrm>
            <a:off x="7726680" y="5303520"/>
            <a:ext cx="1737360" cy="365760"/>
          </a:xfrm>
          <a:prstGeom prst="roundRect">
            <a:avLst>
              <a:gd name="adj" fmla="val 15000"/>
            </a:avLst>
          </a:prstGeom>
          <a:solidFill>
            <a:srgbClr val="D5EFE0"/>
          </a:solidFill>
          <a:ln w="12700">
            <a:solidFill>
              <a:srgbClr val="D5EFE0"/>
            </a:solidFill>
            <a:prstDash val="solid"/>
          </a:ln>
        </p:spPr>
      </p:sp>
      <p:sp>
        <p:nvSpPr>
          <p:cNvPr id="21" name="Chip measured text"/>
          <p:cNvSpPr txBox="1"/>
          <p:nvPr/>
        </p:nvSpPr>
        <p:spPr>
          <a:xfrm>
            <a:off x="7726680" y="5303520"/>
            <a:ext cx="17373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Measured: 1</a:t>
            </a:r>
            <a:endParaRPr lang="en-US" sz="1300" dirty="0"/>
          </a:p>
        </p:txBody>
      </p:sp>
      <p:sp>
        <p:nvSpPr>
          <p:cNvPr id="22" name="Chip estimated"/>
          <p:cNvSpPr/>
          <p:nvPr/>
        </p:nvSpPr>
        <p:spPr>
          <a:xfrm>
            <a:off x="9601200" y="5303520"/>
            <a:ext cx="1828800" cy="365760"/>
          </a:xfrm>
          <a:prstGeom prst="roundRect">
            <a:avLst>
              <a:gd name="adj" fmla="val 15000"/>
            </a:avLst>
          </a:prstGeom>
          <a:solidFill>
            <a:srgbClr val="FCEBC8"/>
          </a:solidFill>
          <a:ln w="12700">
            <a:solidFill>
              <a:srgbClr val="FCEBC8"/>
            </a:solidFill>
            <a:prstDash val="solid"/>
          </a:ln>
        </p:spPr>
      </p:sp>
      <p:sp>
        <p:nvSpPr>
          <p:cNvPr id="23" name="Chip estimated text"/>
          <p:cNvSpPr txBox="1"/>
          <p:nvPr/>
        </p:nvSpPr>
        <p:spPr>
          <a:xfrm>
            <a:off x="9601200" y="5303520"/>
            <a:ext cx="182880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Estimated: 1</a:t>
            </a:r>
            <a:endParaRPr lang="en-US" sz="1300" dirty="0"/>
          </a:p>
        </p:txBody>
      </p:sp>
      <p:sp>
        <p:nvSpPr>
          <p:cNvPr id="24" name="Basis note"/>
          <p:cNvSpPr txBox="1"/>
          <p:nvPr/>
        </p:nvSpPr>
        <p:spPr>
          <a:xfrm>
            <a:off x="7726680" y="5742432"/>
            <a:ext cx="3749040" cy="3200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Survey data is self-reported, never counted as measured.</a:t>
            </a:r>
            <a:endParaRPr lang="en-US" sz="12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How the agentic repository works</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APPROACH</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Agentic Repo sheet. Illustrative sample data (P01, P02); replace with actuals before presenting.</a:t>
            </a:r>
            <a:endParaRPr lang="en-US" sz="1000" dirty="0"/>
          </a:p>
        </p:txBody>
      </p:sp>
      <p:sp>
        <p:nvSpPr>
          <p:cNvPr id="5" name="Flow card 1"/>
          <p:cNvSpPr/>
          <p:nvPr/>
        </p:nvSpPr>
        <p:spPr>
          <a:xfrm>
            <a:off x="548640" y="1371600"/>
            <a:ext cx="2103120" cy="1737360"/>
          </a:xfrm>
          <a:prstGeom prst="roundRect">
            <a:avLst>
              <a:gd name="adj" fmla="val 3158"/>
            </a:avLst>
          </a:prstGeom>
          <a:solidFill>
            <a:schemeClr val="bg2"/>
          </a:solidFill>
          <a:ln w="12700">
            <a:solidFill>
              <a:schemeClr val="bg2"/>
            </a:solidFill>
            <a:prstDash val="solid"/>
          </a:ln>
        </p:spPr>
      </p:sp>
      <p:sp>
        <p:nvSpPr>
          <p:cNvPr id="6" name="Flow marker 1"/>
          <p:cNvSpPr/>
          <p:nvPr/>
        </p:nvSpPr>
        <p:spPr>
          <a:xfrm>
            <a:off x="731520" y="1554480"/>
            <a:ext cx="457200" cy="457200"/>
          </a:xfrm>
          <a:prstGeom prst="ellipse">
            <a:avLst/>
          </a:prstGeom>
          <a:solidFill>
            <a:schemeClr val="accent1"/>
          </a:solidFill>
          <a:ln w="12700">
            <a:solidFill>
              <a:schemeClr val="accent1"/>
            </a:solidFill>
            <a:prstDash val="solid"/>
          </a:ln>
        </p:spPr>
      </p:sp>
      <p:sp>
        <p:nvSpPr>
          <p:cNvPr id="7" name="Flow num 1"/>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Flow title 1"/>
          <p:cNvSpPr txBox="1"/>
          <p:nvPr/>
        </p:nvSpPr>
        <p:spPr>
          <a:xfrm>
            <a:off x="1325880" y="1554480"/>
            <a:ext cx="128016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Learn</a:t>
            </a:r>
            <a:endParaRPr lang="en-US" sz="1800" dirty="0"/>
          </a:p>
        </p:txBody>
      </p:sp>
      <p:sp>
        <p:nvSpPr>
          <p:cNvPr id="9" name="Flow text 1"/>
          <p:cNvSpPr txBox="1"/>
          <p:nvPr/>
        </p:nvSpPr>
        <p:spPr>
          <a:xfrm>
            <a:off x="731520" y="2194560"/>
            <a:ext cx="1783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Review comments filtered and grouped by script</a:t>
            </a:r>
            <a:endParaRPr lang="en-US" sz="1400" dirty="0"/>
          </a:p>
        </p:txBody>
      </p:sp>
      <p:sp>
        <p:nvSpPr>
          <p:cNvPr id="10" name="Flow card 2"/>
          <p:cNvSpPr/>
          <p:nvPr/>
        </p:nvSpPr>
        <p:spPr>
          <a:xfrm>
            <a:off x="2788920" y="1371600"/>
            <a:ext cx="2103120" cy="1737360"/>
          </a:xfrm>
          <a:prstGeom prst="roundRect">
            <a:avLst>
              <a:gd name="adj" fmla="val 3158"/>
            </a:avLst>
          </a:prstGeom>
          <a:solidFill>
            <a:schemeClr val="bg2"/>
          </a:solidFill>
          <a:ln w="12700">
            <a:solidFill>
              <a:schemeClr val="bg2"/>
            </a:solidFill>
            <a:prstDash val="solid"/>
          </a:ln>
        </p:spPr>
      </p:sp>
      <p:sp>
        <p:nvSpPr>
          <p:cNvPr id="11" name="Flow marker 2"/>
          <p:cNvSpPr/>
          <p:nvPr/>
        </p:nvSpPr>
        <p:spPr>
          <a:xfrm>
            <a:off x="2971800" y="1554480"/>
            <a:ext cx="457200" cy="457200"/>
          </a:xfrm>
          <a:prstGeom prst="ellipse">
            <a:avLst/>
          </a:prstGeom>
          <a:solidFill>
            <a:schemeClr val="accent1"/>
          </a:solidFill>
          <a:ln w="12700">
            <a:solidFill>
              <a:schemeClr val="accent1"/>
            </a:solidFill>
            <a:prstDash val="solid"/>
          </a:ln>
        </p:spPr>
      </p:sp>
      <p:sp>
        <p:nvSpPr>
          <p:cNvPr id="12" name="Flow num 2"/>
          <p:cNvSpPr txBox="1"/>
          <p:nvPr/>
        </p:nvSpPr>
        <p:spPr>
          <a:xfrm>
            <a:off x="297180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3" name="Flow title 2"/>
          <p:cNvSpPr txBox="1"/>
          <p:nvPr/>
        </p:nvSpPr>
        <p:spPr>
          <a:xfrm>
            <a:off x="3566160" y="1554480"/>
            <a:ext cx="128016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Approve</a:t>
            </a:r>
            <a:endParaRPr lang="en-US" sz="1800" dirty="0"/>
          </a:p>
        </p:txBody>
      </p:sp>
      <p:sp>
        <p:nvSpPr>
          <p:cNvPr id="14" name="Flow text 2"/>
          <p:cNvSpPr txBox="1"/>
          <p:nvPr/>
        </p:nvSpPr>
        <p:spPr>
          <a:xfrm>
            <a:off x="2971800" y="2194560"/>
            <a:ext cx="1783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Architect approves every rule</a:t>
            </a:r>
            <a:endParaRPr lang="en-US" sz="1400" dirty="0"/>
          </a:p>
        </p:txBody>
      </p:sp>
      <p:sp>
        <p:nvSpPr>
          <p:cNvPr id="15" name="Flow card 3"/>
          <p:cNvSpPr/>
          <p:nvPr/>
        </p:nvSpPr>
        <p:spPr>
          <a:xfrm>
            <a:off x="5029200" y="1371600"/>
            <a:ext cx="2103120" cy="1737360"/>
          </a:xfrm>
          <a:prstGeom prst="roundRect">
            <a:avLst>
              <a:gd name="adj" fmla="val 3158"/>
            </a:avLst>
          </a:prstGeom>
          <a:solidFill>
            <a:schemeClr val="bg2"/>
          </a:solidFill>
          <a:ln w="12700">
            <a:solidFill>
              <a:schemeClr val="bg2"/>
            </a:solidFill>
            <a:prstDash val="solid"/>
          </a:ln>
        </p:spPr>
      </p:sp>
      <p:sp>
        <p:nvSpPr>
          <p:cNvPr id="16" name="Flow marker 3"/>
          <p:cNvSpPr/>
          <p:nvPr/>
        </p:nvSpPr>
        <p:spPr>
          <a:xfrm>
            <a:off x="5212080" y="1554480"/>
            <a:ext cx="457200" cy="457200"/>
          </a:xfrm>
          <a:prstGeom prst="ellipse">
            <a:avLst/>
          </a:prstGeom>
          <a:solidFill>
            <a:schemeClr val="accent1"/>
          </a:solidFill>
          <a:ln w="12700">
            <a:solidFill>
              <a:schemeClr val="accent1"/>
            </a:solidFill>
            <a:prstDash val="solid"/>
          </a:ln>
        </p:spPr>
      </p:sp>
      <p:sp>
        <p:nvSpPr>
          <p:cNvPr id="17" name="Flow num 3"/>
          <p:cNvSpPr txBox="1"/>
          <p:nvPr/>
        </p:nvSpPr>
        <p:spPr>
          <a:xfrm>
            <a:off x="521208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title 3"/>
          <p:cNvSpPr txBox="1"/>
          <p:nvPr/>
        </p:nvSpPr>
        <p:spPr>
          <a:xfrm>
            <a:off x="5806440" y="1554480"/>
            <a:ext cx="128016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Guide</a:t>
            </a:r>
            <a:endParaRPr lang="en-US" sz="1800" dirty="0"/>
          </a:p>
        </p:txBody>
      </p:sp>
      <p:sp>
        <p:nvSpPr>
          <p:cNvPr id="19" name="Flow text 3"/>
          <p:cNvSpPr txBox="1"/>
          <p:nvPr/>
        </p:nvSpPr>
        <p:spPr>
          <a:xfrm>
            <a:off x="5212080" y="2194560"/>
            <a:ext cx="1783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Rules feed Copilot instructions</a:t>
            </a:r>
            <a:endParaRPr lang="en-US" sz="1400" dirty="0"/>
          </a:p>
        </p:txBody>
      </p:sp>
      <p:sp>
        <p:nvSpPr>
          <p:cNvPr id="20" name="Flow card 4"/>
          <p:cNvSpPr/>
          <p:nvPr/>
        </p:nvSpPr>
        <p:spPr>
          <a:xfrm>
            <a:off x="7269480" y="1371600"/>
            <a:ext cx="2103120" cy="1737360"/>
          </a:xfrm>
          <a:prstGeom prst="roundRect">
            <a:avLst>
              <a:gd name="adj" fmla="val 3158"/>
            </a:avLst>
          </a:prstGeom>
          <a:solidFill>
            <a:schemeClr val="bg2"/>
          </a:solidFill>
          <a:ln w="12700">
            <a:solidFill>
              <a:schemeClr val="bg2"/>
            </a:solidFill>
            <a:prstDash val="solid"/>
          </a:ln>
        </p:spPr>
      </p:sp>
      <p:sp>
        <p:nvSpPr>
          <p:cNvPr id="21" name="Flow marker 4"/>
          <p:cNvSpPr/>
          <p:nvPr/>
        </p:nvSpPr>
        <p:spPr>
          <a:xfrm>
            <a:off x="7452360" y="1554480"/>
            <a:ext cx="457200" cy="457200"/>
          </a:xfrm>
          <a:prstGeom prst="ellipse">
            <a:avLst/>
          </a:prstGeom>
          <a:solidFill>
            <a:schemeClr val="accent2"/>
          </a:solidFill>
          <a:ln w="12700">
            <a:solidFill>
              <a:schemeClr val="accent2"/>
            </a:solidFill>
            <a:prstDash val="solid"/>
          </a:ln>
        </p:spPr>
      </p:sp>
      <p:sp>
        <p:nvSpPr>
          <p:cNvPr id="22" name="Flow num 4"/>
          <p:cNvSpPr txBox="1"/>
          <p:nvPr/>
        </p:nvSpPr>
        <p:spPr>
          <a:xfrm>
            <a:off x="745236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3" name="Flow title 4"/>
          <p:cNvSpPr txBox="1"/>
          <p:nvPr/>
        </p:nvSpPr>
        <p:spPr>
          <a:xfrm>
            <a:off x="8046720" y="1554480"/>
            <a:ext cx="128016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Verify</a:t>
            </a:r>
            <a:endParaRPr lang="en-US" sz="1800" dirty="0"/>
          </a:p>
        </p:txBody>
      </p:sp>
      <p:sp>
        <p:nvSpPr>
          <p:cNvPr id="24" name="Flow text 4"/>
          <p:cNvSpPr txBox="1"/>
          <p:nvPr/>
        </p:nvSpPr>
        <p:spPr>
          <a:xfrm>
            <a:off x="7452360" y="2194560"/>
            <a:ext cx="1783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Static checks and reviewer agent</a:t>
            </a:r>
            <a:endParaRPr lang="en-US" sz="1400" dirty="0"/>
          </a:p>
        </p:txBody>
      </p:sp>
      <p:sp>
        <p:nvSpPr>
          <p:cNvPr id="25" name="Flow card 5"/>
          <p:cNvSpPr/>
          <p:nvPr/>
        </p:nvSpPr>
        <p:spPr>
          <a:xfrm>
            <a:off x="9509760" y="1371600"/>
            <a:ext cx="2103120" cy="1737360"/>
          </a:xfrm>
          <a:prstGeom prst="roundRect">
            <a:avLst>
              <a:gd name="adj" fmla="val 3158"/>
            </a:avLst>
          </a:prstGeom>
          <a:solidFill>
            <a:schemeClr val="bg2"/>
          </a:solidFill>
          <a:ln w="12700">
            <a:solidFill>
              <a:schemeClr val="bg2"/>
            </a:solidFill>
            <a:prstDash val="solid"/>
          </a:ln>
        </p:spPr>
      </p:sp>
      <p:sp>
        <p:nvSpPr>
          <p:cNvPr id="26" name="Flow marker 5"/>
          <p:cNvSpPr/>
          <p:nvPr/>
        </p:nvSpPr>
        <p:spPr>
          <a:xfrm>
            <a:off x="9692640" y="1554480"/>
            <a:ext cx="457200" cy="457200"/>
          </a:xfrm>
          <a:prstGeom prst="ellipse">
            <a:avLst/>
          </a:prstGeom>
          <a:solidFill>
            <a:schemeClr val="accent1"/>
          </a:solidFill>
          <a:ln w="12700">
            <a:solidFill>
              <a:schemeClr val="accent1"/>
            </a:solidFill>
            <a:prstDash val="solid"/>
          </a:ln>
        </p:spPr>
      </p:sp>
      <p:sp>
        <p:nvSpPr>
          <p:cNvPr id="27" name="Flow num 5"/>
          <p:cNvSpPr txBox="1"/>
          <p:nvPr/>
        </p:nvSpPr>
        <p:spPr>
          <a:xfrm>
            <a:off x="96926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8" name="Flow title 5"/>
          <p:cNvSpPr txBox="1"/>
          <p:nvPr/>
        </p:nvSpPr>
        <p:spPr>
          <a:xfrm>
            <a:off x="10287000" y="1554480"/>
            <a:ext cx="128016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Measure</a:t>
            </a:r>
            <a:endParaRPr lang="en-US" sz="1800" dirty="0"/>
          </a:p>
        </p:txBody>
      </p:sp>
      <p:sp>
        <p:nvSpPr>
          <p:cNvPr id="29" name="Flow text 5"/>
          <p:cNvSpPr txBox="1"/>
          <p:nvPr/>
        </p:nvSpPr>
        <p:spPr>
          <a:xfrm>
            <a:off x="9692640" y="2194560"/>
            <a:ext cx="1783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Rounds, cycle time, acceptance</a:t>
            </a:r>
            <a:endParaRPr lang="en-US" sz="1400" dirty="0"/>
          </a:p>
        </p:txBody>
      </p:sp>
      <p:sp>
        <p:nvSpPr>
          <p:cNvPr id="30" name="Role card 0"/>
          <p:cNvSpPr/>
          <p:nvPr/>
        </p:nvSpPr>
        <p:spPr>
          <a:xfrm>
            <a:off x="548640" y="3337560"/>
            <a:ext cx="3566160" cy="2468880"/>
          </a:xfrm>
          <a:prstGeom prst="roundRect">
            <a:avLst>
              <a:gd name="adj" fmla="val 2222"/>
            </a:avLst>
          </a:prstGeom>
          <a:solidFill>
            <a:schemeClr val="bg2"/>
          </a:solidFill>
          <a:ln w="12700">
            <a:solidFill>
              <a:schemeClr val="bg2"/>
            </a:solidFill>
            <a:prstDash val="solid"/>
          </a:ln>
        </p:spPr>
      </p:sp>
      <p:sp>
        <p:nvSpPr>
          <p:cNvPr id="31" name="Role chip 0"/>
          <p:cNvSpPr/>
          <p:nvPr/>
        </p:nvSpPr>
        <p:spPr>
          <a:xfrm>
            <a:off x="777240" y="3520440"/>
            <a:ext cx="2011680" cy="384048"/>
          </a:xfrm>
          <a:prstGeom prst="roundRect">
            <a:avLst>
              <a:gd name="adj" fmla="val 14286"/>
            </a:avLst>
          </a:prstGeom>
          <a:solidFill>
            <a:schemeClr val="tx2"/>
          </a:solidFill>
          <a:ln w="12700">
            <a:solidFill>
              <a:schemeClr val="tx2"/>
            </a:solidFill>
            <a:prstDash val="solid"/>
          </a:ln>
        </p:spPr>
      </p:sp>
      <p:sp>
        <p:nvSpPr>
          <p:cNvPr id="32" name="Role chip text 0"/>
          <p:cNvSpPr txBox="1"/>
          <p:nvPr/>
        </p:nvSpPr>
        <p:spPr>
          <a:xfrm>
            <a:off x="777240" y="3520440"/>
            <a:ext cx="201168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Scripts decide</a:t>
            </a:r>
            <a:endParaRPr lang="en-US" sz="1400" dirty="0"/>
          </a:p>
        </p:txBody>
      </p:sp>
      <p:sp>
        <p:nvSpPr>
          <p:cNvPr id="33" name="Role bullets 0"/>
          <p:cNvSpPr txBox="1"/>
          <p:nvPr/>
        </p:nvSpPr>
        <p:spPr>
          <a:xfrm>
            <a:off x="822960" y="406908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Which lines changed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 7.3 language ceiling and risky patterns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Code quotes exist in the file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Score and verdict</a:t>
            </a:r>
            <a:endParaRPr lang="en-US" sz="1400" dirty="0"/>
          </a:p>
        </p:txBody>
      </p:sp>
      <p:sp>
        <p:nvSpPr>
          <p:cNvPr id="34" name="Role card 1"/>
          <p:cNvSpPr/>
          <p:nvPr/>
        </p:nvSpPr>
        <p:spPr>
          <a:xfrm>
            <a:off x="4297680" y="3337560"/>
            <a:ext cx="3566160" cy="2468880"/>
          </a:xfrm>
          <a:prstGeom prst="roundRect">
            <a:avLst>
              <a:gd name="adj" fmla="val 2222"/>
            </a:avLst>
          </a:prstGeom>
          <a:solidFill>
            <a:schemeClr val="bg2"/>
          </a:solidFill>
          <a:ln w="12700">
            <a:solidFill>
              <a:schemeClr val="bg2"/>
            </a:solidFill>
            <a:prstDash val="solid"/>
          </a:ln>
        </p:spPr>
      </p:sp>
      <p:sp>
        <p:nvSpPr>
          <p:cNvPr id="35" name="Role chip 1"/>
          <p:cNvSpPr/>
          <p:nvPr/>
        </p:nvSpPr>
        <p:spPr>
          <a:xfrm>
            <a:off x="4526280" y="3520440"/>
            <a:ext cx="2011680" cy="384048"/>
          </a:xfrm>
          <a:prstGeom prst="roundRect">
            <a:avLst>
              <a:gd name="adj" fmla="val 14286"/>
            </a:avLst>
          </a:prstGeom>
          <a:solidFill>
            <a:schemeClr val="accent1"/>
          </a:solidFill>
          <a:ln w="12700">
            <a:solidFill>
              <a:schemeClr val="accent1"/>
            </a:solidFill>
            <a:prstDash val="solid"/>
          </a:ln>
        </p:spPr>
      </p:sp>
      <p:sp>
        <p:nvSpPr>
          <p:cNvPr id="36" name="Role chip text 1"/>
          <p:cNvSpPr txBox="1"/>
          <p:nvPr/>
        </p:nvSpPr>
        <p:spPr>
          <a:xfrm>
            <a:off x="4526280" y="3520440"/>
            <a:ext cx="201168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AI proposes</a:t>
            </a:r>
            <a:endParaRPr lang="en-US" sz="1400" dirty="0"/>
          </a:p>
        </p:txBody>
      </p:sp>
      <p:sp>
        <p:nvSpPr>
          <p:cNvPr id="37" name="Role bullets 1"/>
          <p:cNvSpPr txBox="1"/>
          <p:nvPr/>
        </p:nvSpPr>
        <p:spPr>
          <a:xfrm>
            <a:off x="4572000" y="406908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Review findings, each citing a rule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Minimal code changes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Draft rules from review comments</a:t>
            </a:r>
            <a:endParaRPr lang="en-US" sz="1400" dirty="0"/>
          </a:p>
        </p:txBody>
      </p:sp>
      <p:sp>
        <p:nvSpPr>
          <p:cNvPr id="38" name="Role card 2"/>
          <p:cNvSpPr/>
          <p:nvPr/>
        </p:nvSpPr>
        <p:spPr>
          <a:xfrm>
            <a:off x="8046720" y="3337560"/>
            <a:ext cx="3566160" cy="2468880"/>
          </a:xfrm>
          <a:prstGeom prst="roundRect">
            <a:avLst>
              <a:gd name="adj" fmla="val 2222"/>
            </a:avLst>
          </a:prstGeom>
          <a:solidFill>
            <a:schemeClr val="bg2"/>
          </a:solidFill>
          <a:ln w="12700">
            <a:solidFill>
              <a:schemeClr val="bg2"/>
            </a:solidFill>
            <a:prstDash val="solid"/>
          </a:ln>
        </p:spPr>
      </p:sp>
      <p:sp>
        <p:nvSpPr>
          <p:cNvPr id="39" name="Role chip 2"/>
          <p:cNvSpPr/>
          <p:nvPr/>
        </p:nvSpPr>
        <p:spPr>
          <a:xfrm>
            <a:off x="8275320" y="3520440"/>
            <a:ext cx="2011680" cy="384048"/>
          </a:xfrm>
          <a:prstGeom prst="roundRect">
            <a:avLst>
              <a:gd name="adj" fmla="val 14286"/>
            </a:avLst>
          </a:prstGeom>
          <a:solidFill>
            <a:schemeClr val="accent2"/>
          </a:solidFill>
          <a:ln w="12700">
            <a:solidFill>
              <a:schemeClr val="accent2"/>
            </a:solidFill>
            <a:prstDash val="solid"/>
          </a:ln>
        </p:spPr>
      </p:sp>
      <p:sp>
        <p:nvSpPr>
          <p:cNvPr id="40" name="Role chip text 2"/>
          <p:cNvSpPr txBox="1"/>
          <p:nvPr/>
        </p:nvSpPr>
        <p:spPr>
          <a:xfrm>
            <a:off x="8275320" y="3520440"/>
            <a:ext cx="2011680" cy="384048"/>
          </a:xfrm>
          <a:prstGeom prst="rect">
            <a:avLst/>
          </a:prstGeom>
          <a:noFill/>
          <a:ln/>
        </p:spPr>
        <p:txBody>
          <a:bodyPr wrap="square" lIns="0" tIns="0" rIns="0" bIns="0" rtlCol="0" anchor="ctr"/>
          <a:lstStyle/>
          <a:p>
            <a:pPr algn="ctr" indent="0" marL="0">
              <a:buNone/>
            </a:pPr>
            <a:r>
              <a:rPr lang="en-US" sz="1400" b="1" dirty="0">
                <a:solidFill>
                  <a:srgbClr val="0B2A3C"/>
                </a:solidFill>
                <a:latin typeface="Calibri" pitchFamily="34" charset="0"/>
                <a:ea typeface="Calibri" pitchFamily="34" charset="-122"/>
                <a:cs typeface="Calibri" pitchFamily="34" charset="-120"/>
              </a:rPr>
              <a:t>People approve</a:t>
            </a:r>
            <a:endParaRPr lang="en-US" sz="1400" dirty="0"/>
          </a:p>
        </p:txBody>
      </p:sp>
      <p:sp>
        <p:nvSpPr>
          <p:cNvPr id="41" name="Role bullets 2"/>
          <p:cNvSpPr txBox="1"/>
          <p:nvPr/>
        </p:nvSpPr>
        <p:spPr>
          <a:xfrm>
            <a:off x="8321040" y="406908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Every rule and its severity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Every merge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Any change in clinical-critical paths</a:t>
            </a:r>
            <a:endParaRPr lang="en-US" sz="14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Readiness and finding quality</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ROLLOUT STATUS</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Agentic Repo sheet. Illustrative sample data (P01, P02); replace with actuals before presenting.</a:t>
            </a:r>
            <a:endParaRPr lang="en-US" sz="1000" dirty="0"/>
          </a:p>
        </p:txBody>
      </p:sp>
      <p:graphicFrame>
        <p:nvGraphicFramePr>
          <p:cNvPr id="8" name="Readiness table"/>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280160"/>
                <a:gridCol w="1188720"/>
                <a:gridCol w="822960"/>
                <a:gridCol w="914400"/>
                <a:gridCol w="914400"/>
                <a:gridCol w="914400"/>
                <a:gridCol w="91440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Project</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Instructions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Rules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CI gate</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Agent</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Paths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Ready</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0B2A3C"/>
                    </a:solidFill>
                  </a:tcPr>
                </a:tc>
              </a:tr>
              <a:tr h="457200">
                <a:tc>
                  <a:txBody>
                    <a:bodyPr/>
                    <a:lstStyle/>
                    <a:p>
                      <a:pPr algn="l" indent="0" marL="0">
                        <a:buNone/>
                      </a:pPr>
                      <a:r>
                        <a:rPr lang="en-US" sz="1300" b="1" dirty="0">
                          <a:solidFill>
                            <a:srgbClr val="10222B"/>
                          </a:solidFill>
                          <a:latin typeface="Calibri" pitchFamily="34" charset="0"/>
                          <a:ea typeface="Calibri" pitchFamily="34" charset="-122"/>
                          <a:cs typeface="Calibri" pitchFamily="34" charset="-120"/>
                        </a:rPr>
                        <a:t>Project A</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D5EFE0"/>
                    </a:solidFill>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D5EFE0"/>
                    </a:solidFill>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D5EFE0"/>
                    </a:solidFill>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D5EFE0"/>
                    </a:solidFill>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4 of 4</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r>
              <a:tr h="457200">
                <a:tc>
                  <a:txBody>
                    <a:bodyPr/>
                    <a:lstStyle/>
                    <a:p>
                      <a:pPr algn="l" indent="0" marL="0">
                        <a:buNone/>
                      </a:pPr>
                      <a:r>
                        <a:rPr lang="en-US" sz="1300" b="1" dirty="0">
                          <a:solidFill>
                            <a:srgbClr val="10222B"/>
                          </a:solidFill>
                          <a:latin typeface="Calibri" pitchFamily="34" charset="0"/>
                          <a:ea typeface="Calibri" pitchFamily="34" charset="-122"/>
                          <a:cs typeface="Calibri" pitchFamily="34" charset="-120"/>
                        </a:rPr>
                        <a:t>Project B</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FCEBC8"/>
                    </a:solidFill>
                  </a:tcPr>
                </a:tc>
                <a:tc>
                  <a:txBody>
                    <a:bodyPr/>
                    <a:lstStyle/>
                    <a:p>
                      <a:pPr algn="ctr" indent="0" marL="0">
                        <a:buNone/>
                      </a:pPr>
                      <a:r>
                        <a:rPr lang="en-US" sz="1300" dirty="0">
                          <a:solidFill>
                            <a:srgbClr val="10222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E3E8EA"/>
                    </a:solidFill>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Pilot</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FCEBC8"/>
                    </a:solidFill>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solidFill>
                      <a:srgbClr val="E3E8EA"/>
                    </a:solidFill>
                  </a:tcPr>
                </a:tc>
                <a:tc>
                  <a:txBody>
                    <a:bodyPr/>
                    <a:lstStyle/>
                    <a:p>
                      <a:pPr algn="ctr" indent="0" marL="0">
                        <a:buNone/>
                      </a:pPr>
                      <a:r>
                        <a:rPr lang="en-US" sz="1300" b="1" dirty="0">
                          <a:solidFill>
                            <a:srgbClr val="10222B"/>
                          </a:solidFill>
                          <a:latin typeface="Calibri" pitchFamily="34" charset="0"/>
                          <a:ea typeface="Calibri" pitchFamily="34" charset="-122"/>
                          <a:cs typeface="Calibri" pitchFamily="34" charset="-120"/>
                        </a:rPr>
                        <a:t>0 of 4</a:t>
                      </a:r>
                      <a:endParaRPr lang="en-US" sz="1300" dirty="0">
                        <a:latin typeface="Calibri" charset="0"/>
                        <a:ea typeface="Calibri" charset="0"/>
                        <a:cs typeface="Calibri" charset="0"/>
                      </a:endParaRPr>
                    </a:p>
                  </a:txBody>
                  <a:tcPr marL="91440" marR="91440" marT="45720" marB="45720" anchor="ctr">
                    <a:lnL w="12700" cap="flat" cmpd="sng" algn="ctr">
                      <a:solidFill>
                        <a:srgbClr val="D9E1E4"/>
                      </a:solidFill>
                      <a:prstDash val="solid"/>
                      <a:round/>
                      <a:headEnd type="none" w="med" len="med"/>
                      <a:tailEnd type="none" w="med" len="med"/>
                    </a:lnL>
                    <a:lnR w="12700" cap="flat" cmpd="sng" algn="ctr">
                      <a:solidFill>
                        <a:srgbClr val="D9E1E4"/>
                      </a:solidFill>
                      <a:prstDash val="solid"/>
                      <a:round/>
                      <a:headEnd type="none" w="med" len="med"/>
                      <a:tailEnd type="none" w="med" len="med"/>
                    </a:lnR>
                    <a:lnT w="12700" cap="flat" cmpd="sng" algn="ctr">
                      <a:solidFill>
                        <a:srgbClr val="D9E1E4"/>
                      </a:solidFill>
                      <a:prstDash val="solid"/>
                      <a:round/>
                      <a:headEnd type="none" w="med" len="med"/>
                      <a:tailEnd type="none" w="med" len="med"/>
                    </a:lnT>
                    <a:lnB w="12700" cap="flat" cmpd="sng" algn="ctr">
                      <a:solidFill>
                        <a:srgbClr val="D9E1E4"/>
                      </a:solidFill>
                      <a:prstDash val="solid"/>
                      <a:round/>
                      <a:headEnd type="none" w="med" len="med"/>
                      <a:tailEnd type="none" w="med" len="med"/>
                    </a:lnB>
                  </a:tcPr>
                </a:tc>
              </a:tr>
            </a:tbl>
          </a:graphicData>
        </a:graphic>
      </p:graphicFrame>
      <p:graphicFrame>
        <p:nvGraphicFramePr>
          <p:cNvPr id="6" name="Findings chart" descr=""/>
          <p:cNvGraphicFramePr/>
          <p:nvPr/>
        </p:nvGraphicFramePr>
        <p:xfrm>
          <a:off x="7772400" y="1325880"/>
          <a:ext cx="3840480" cy="3200400"/>
        </p:xfrm>
        <a:graphic xmlns:a="http://schemas.openxmlformats.org/drawingml/2006/main">
          <a:graphicData uri="http://schemas.openxmlformats.org/drawingml/2006/chart">
            <c:chart xmlns:c="http://schemas.openxmlformats.org/drawingml/2006/chart" r:id="rId1"/>
          </a:graphicData>
        </a:graphic>
      </p:graphicFrame>
      <p:sp>
        <p:nvSpPr>
          <p:cNvPr id="7" name="Quality card 0"/>
          <p:cNvSpPr/>
          <p:nvPr/>
        </p:nvSpPr>
        <p:spPr>
          <a:xfrm>
            <a:off x="548640" y="3108960"/>
            <a:ext cx="2194560" cy="1463040"/>
          </a:xfrm>
          <a:prstGeom prst="roundRect">
            <a:avLst>
              <a:gd name="adj" fmla="val 3750"/>
            </a:avLst>
          </a:prstGeom>
          <a:solidFill>
            <a:schemeClr val="bg2"/>
          </a:solidFill>
          <a:ln w="12700">
            <a:solidFill>
              <a:schemeClr val="bg2"/>
            </a:solidFill>
            <a:prstDash val="solid"/>
          </a:ln>
        </p:spPr>
      </p:sp>
      <p:sp>
        <p:nvSpPr>
          <p:cNvPr id="8" name="Quality value 0"/>
          <p:cNvSpPr txBox="1"/>
          <p:nvPr/>
        </p:nvSpPr>
        <p:spPr>
          <a:xfrm>
            <a:off x="731520" y="3200400"/>
            <a:ext cx="182880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64%</a:t>
            </a:r>
            <a:endParaRPr lang="en-US" sz="3000" dirty="0"/>
          </a:p>
        </p:txBody>
      </p:sp>
      <p:sp>
        <p:nvSpPr>
          <p:cNvPr id="9" name="Quality label 0"/>
          <p:cNvSpPr txBox="1"/>
          <p:nvPr/>
        </p:nvSpPr>
        <p:spPr>
          <a:xfrm>
            <a:off x="731520" y="3822192"/>
            <a:ext cx="182880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findings accepted by humans (50 of 78)</a:t>
            </a:r>
            <a:endParaRPr lang="en-US" sz="1300" dirty="0"/>
          </a:p>
        </p:txBody>
      </p:sp>
      <p:sp>
        <p:nvSpPr>
          <p:cNvPr id="10" name="Quality card 1"/>
          <p:cNvSpPr/>
          <p:nvPr/>
        </p:nvSpPr>
        <p:spPr>
          <a:xfrm>
            <a:off x="2880360" y="3108960"/>
            <a:ext cx="2194560" cy="1463040"/>
          </a:xfrm>
          <a:prstGeom prst="roundRect">
            <a:avLst>
              <a:gd name="adj" fmla="val 3750"/>
            </a:avLst>
          </a:prstGeom>
          <a:solidFill>
            <a:schemeClr val="bg2"/>
          </a:solidFill>
          <a:ln w="12700">
            <a:solidFill>
              <a:schemeClr val="bg2"/>
            </a:solidFill>
            <a:prstDash val="solid"/>
          </a:ln>
        </p:spPr>
      </p:sp>
      <p:sp>
        <p:nvSpPr>
          <p:cNvPr id="11" name="Quality value 1"/>
          <p:cNvSpPr txBox="1"/>
          <p:nvPr/>
        </p:nvSpPr>
        <p:spPr>
          <a:xfrm>
            <a:off x="3063240" y="3200400"/>
            <a:ext cx="182880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4</a:t>
            </a:r>
            <a:endParaRPr lang="en-US" sz="3000" dirty="0"/>
          </a:p>
        </p:txBody>
      </p:sp>
      <p:sp>
        <p:nvSpPr>
          <p:cNvPr id="12" name="Quality label 1"/>
          <p:cNvSpPr txBox="1"/>
          <p:nvPr/>
        </p:nvSpPr>
        <p:spPr>
          <a:xfrm>
            <a:off x="3063240" y="3822192"/>
            <a:ext cx="182880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rules mined from PR comments</a:t>
            </a:r>
            <a:endParaRPr lang="en-US" sz="1300" dirty="0"/>
          </a:p>
        </p:txBody>
      </p:sp>
      <p:sp>
        <p:nvSpPr>
          <p:cNvPr id="13" name="Quality card 2"/>
          <p:cNvSpPr/>
          <p:nvPr/>
        </p:nvSpPr>
        <p:spPr>
          <a:xfrm>
            <a:off x="5212080" y="3108960"/>
            <a:ext cx="2194560" cy="1463040"/>
          </a:xfrm>
          <a:prstGeom prst="roundRect">
            <a:avLst>
              <a:gd name="adj" fmla="val 3750"/>
            </a:avLst>
          </a:prstGeom>
          <a:solidFill>
            <a:schemeClr val="bg2"/>
          </a:solidFill>
          <a:ln w="12700">
            <a:solidFill>
              <a:schemeClr val="bg2"/>
            </a:solidFill>
            <a:prstDash val="solid"/>
          </a:ln>
        </p:spPr>
      </p:sp>
      <p:sp>
        <p:nvSpPr>
          <p:cNvPr id="14" name="Quality value 2"/>
          <p:cNvSpPr txBox="1"/>
          <p:nvPr/>
        </p:nvSpPr>
        <p:spPr>
          <a:xfrm>
            <a:off x="5394960" y="3200400"/>
            <a:ext cx="182880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10</a:t>
            </a:r>
            <a:endParaRPr lang="en-US" sz="3000" dirty="0"/>
          </a:p>
        </p:txBody>
      </p:sp>
      <p:sp>
        <p:nvSpPr>
          <p:cNvPr id="15" name="Quality label 2"/>
          <p:cNvSpPr txBox="1"/>
          <p:nvPr/>
        </p:nvSpPr>
        <p:spPr>
          <a:xfrm>
            <a:off x="5394960" y="3822192"/>
            <a:ext cx="182880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false positives reported</a:t>
            </a:r>
            <a:endParaRPr lang="en-US" sz="1300" dirty="0"/>
          </a:p>
        </p:txBody>
      </p:sp>
      <p:sp>
        <p:nvSpPr>
          <p:cNvPr id="16" name="Rollout note"/>
          <p:cNvSpPr/>
          <p:nvPr/>
        </p:nvSpPr>
        <p:spPr>
          <a:xfrm>
            <a:off x="548640" y="4800600"/>
            <a:ext cx="11064240" cy="1325880"/>
          </a:xfrm>
          <a:prstGeom prst="roundRect">
            <a:avLst>
              <a:gd name="adj" fmla="val 4138"/>
            </a:avLst>
          </a:prstGeom>
          <a:solidFill>
            <a:schemeClr val="bg2"/>
          </a:solidFill>
          <a:ln w="12700">
            <a:solidFill>
              <a:schemeClr val="bg2"/>
            </a:solidFill>
            <a:prstDash val="solid"/>
          </a:ln>
        </p:spPr>
      </p:sp>
      <p:sp>
        <p:nvSpPr>
          <p:cNvPr id="17" name="Rollout bullets"/>
          <p:cNvSpPr txBox="1"/>
          <p:nvPr/>
        </p:nvSpPr>
        <p:spPr>
          <a:xfrm>
            <a:off x="822960" y="4919472"/>
            <a:ext cx="1051560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Project A shows what 'ready' looks like: instructions, approved rules, CI gate, reviewer agent and critical paths defined</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Project B is a pilot. 35 starter rules still await architect approval; none are enforced until approved</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Acceptance below about 50% means rules need tuning, not more AI. Target to be agreed with the customer</a:t>
            </a:r>
            <a:endParaRPr lang="en-US" sz="14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Risk heat map and key controls</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RISK AND CONTROL</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Risks sheet. Illustrative sample data (P01, P02); replace with actuals before presenting.</a:t>
            </a:r>
            <a:endParaRPr lang="en-US" sz="1000" dirty="0"/>
          </a:p>
        </p:txBody>
      </p:sp>
      <p:sp>
        <p:nvSpPr>
          <p:cNvPr id="5" name="Heat y title"/>
          <p:cNvSpPr txBox="1"/>
          <p:nvPr/>
        </p:nvSpPr>
        <p:spPr>
          <a:xfrm>
            <a:off x="548640" y="1325880"/>
            <a:ext cx="1097280" cy="274320"/>
          </a:xfrm>
          <a:prstGeom prst="rect">
            <a:avLst/>
          </a:prstGeom>
          <a:noFill/>
          <a:ln/>
        </p:spPr>
        <p:txBody>
          <a:bodyPr wrap="square" lIns="0" tIns="0" rIns="0" bIns="0" rtlCol="0" anchor="t"/>
          <a:lstStyle/>
          <a:p>
            <a:pPr indent="0" marL="0">
              <a:buNone/>
            </a:pPr>
            <a:r>
              <a:rPr lang="en-US" sz="1200" b="1" dirty="0">
                <a:solidFill>
                  <a:schemeClr val="accent6"/>
                </a:solidFill>
                <a:latin typeface="Calibri" pitchFamily="34" charset="0"/>
                <a:ea typeface="Calibri" pitchFamily="34" charset="-122"/>
                <a:cs typeface="Calibri" pitchFamily="34" charset="-120"/>
              </a:rPr>
              <a:t>Likelihood</a:t>
            </a:r>
            <a:endParaRPr lang="en-US" sz="1200" dirty="0"/>
          </a:p>
        </p:txBody>
      </p:sp>
      <p:sp>
        <p:nvSpPr>
          <p:cNvPr id="6" name="Heat row High"/>
          <p:cNvSpPr txBox="1"/>
          <p:nvPr/>
        </p:nvSpPr>
        <p:spPr>
          <a:xfrm>
            <a:off x="548640" y="1783080"/>
            <a:ext cx="822960" cy="1005840"/>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High</a:t>
            </a:r>
            <a:endParaRPr lang="en-US" sz="1300" dirty="0"/>
          </a:p>
        </p:txBody>
      </p:sp>
      <p:sp>
        <p:nvSpPr>
          <p:cNvPr id="7" name="Heat HighLow"/>
          <p:cNvSpPr/>
          <p:nvPr/>
        </p:nvSpPr>
        <p:spPr>
          <a:xfrm>
            <a:off x="1371600" y="1783080"/>
            <a:ext cx="1325880" cy="1005840"/>
          </a:xfrm>
          <a:prstGeom prst="roundRect">
            <a:avLst>
              <a:gd name="adj" fmla="val 5455"/>
            </a:avLst>
          </a:prstGeom>
          <a:solidFill>
            <a:srgbClr val="FCEBC8"/>
          </a:solidFill>
          <a:ln w="12700">
            <a:solidFill>
              <a:srgbClr val="FCEBC8"/>
            </a:solidFill>
            <a:prstDash val="solid"/>
          </a:ln>
        </p:spPr>
      </p:sp>
      <p:sp>
        <p:nvSpPr>
          <p:cNvPr id="8" name="Heat txt HighLow"/>
          <p:cNvSpPr txBox="1"/>
          <p:nvPr/>
        </p:nvSpPr>
        <p:spPr>
          <a:xfrm>
            <a:off x="1371600" y="1783080"/>
            <a:ext cx="1325880" cy="1005840"/>
          </a:xfrm>
          <a:prstGeom prst="rect">
            <a:avLst/>
          </a:prstGeom>
          <a:noFill/>
          <a:ln/>
        </p:spPr>
        <p:txBody>
          <a:bodyPr wrap="square" lIns="0" tIns="0" rIns="0" bIns="0" rtlCol="0" anchor="ctr"/>
          <a:lstStyle/>
          <a:p>
            <a:pPr algn="ctr" indent="0" marL="0">
              <a:buNone/>
            </a:pPr>
            <a:endParaRPr lang="en-US" sz="1800" dirty="0"/>
          </a:p>
        </p:txBody>
      </p:sp>
      <p:sp>
        <p:nvSpPr>
          <p:cNvPr id="9" name="Heat HighMedium"/>
          <p:cNvSpPr/>
          <p:nvPr/>
        </p:nvSpPr>
        <p:spPr>
          <a:xfrm>
            <a:off x="2788920" y="1783080"/>
            <a:ext cx="1325880" cy="1005840"/>
          </a:xfrm>
          <a:prstGeom prst="roundRect">
            <a:avLst>
              <a:gd name="adj" fmla="val 5455"/>
            </a:avLst>
          </a:prstGeom>
          <a:solidFill>
            <a:srgbClr val="F6D3D0"/>
          </a:solidFill>
          <a:ln w="12700">
            <a:solidFill>
              <a:srgbClr val="F6D3D0"/>
            </a:solidFill>
            <a:prstDash val="solid"/>
          </a:ln>
        </p:spPr>
      </p:sp>
      <p:sp>
        <p:nvSpPr>
          <p:cNvPr id="10" name="Heat txt HighMedium"/>
          <p:cNvSpPr txBox="1"/>
          <p:nvPr/>
        </p:nvSpPr>
        <p:spPr>
          <a:xfrm>
            <a:off x="2788920" y="1783080"/>
            <a:ext cx="1325880" cy="1005840"/>
          </a:xfrm>
          <a:prstGeom prst="rect">
            <a:avLst/>
          </a:prstGeom>
          <a:noFill/>
          <a:ln/>
        </p:spPr>
        <p:txBody>
          <a:bodyPr wrap="square" lIns="0" tIns="0" rIns="0" bIns="0" rtlCol="0" anchor="ctr"/>
          <a:lstStyle/>
          <a:p>
            <a:pPr algn="ctr" indent="0" marL="0">
              <a:buNone/>
            </a:pPr>
            <a:endParaRPr lang="en-US" sz="1800" dirty="0"/>
          </a:p>
        </p:txBody>
      </p:sp>
      <p:sp>
        <p:nvSpPr>
          <p:cNvPr id="11" name="Heat HighHigh"/>
          <p:cNvSpPr/>
          <p:nvPr/>
        </p:nvSpPr>
        <p:spPr>
          <a:xfrm>
            <a:off x="4206240" y="1783080"/>
            <a:ext cx="1325880" cy="1005840"/>
          </a:xfrm>
          <a:prstGeom prst="roundRect">
            <a:avLst>
              <a:gd name="adj" fmla="val 5455"/>
            </a:avLst>
          </a:prstGeom>
          <a:solidFill>
            <a:srgbClr val="F6D3D0"/>
          </a:solidFill>
          <a:ln w="12700">
            <a:solidFill>
              <a:srgbClr val="F6D3D0"/>
            </a:solidFill>
            <a:prstDash val="solid"/>
          </a:ln>
        </p:spPr>
      </p:sp>
      <p:sp>
        <p:nvSpPr>
          <p:cNvPr id="12" name="Heat txt HighHigh"/>
          <p:cNvSpPr txBox="1"/>
          <p:nvPr/>
        </p:nvSpPr>
        <p:spPr>
          <a:xfrm>
            <a:off x="4206240" y="1783080"/>
            <a:ext cx="1325880" cy="1005840"/>
          </a:xfrm>
          <a:prstGeom prst="rect">
            <a:avLst/>
          </a:prstGeom>
          <a:noFill/>
          <a:ln/>
        </p:spPr>
        <p:txBody>
          <a:bodyPr wrap="square" lIns="0" tIns="0" rIns="0" bIns="0" rtlCol="0" anchor="ctr"/>
          <a:lstStyle/>
          <a:p>
            <a:pPr algn="ctr" indent="0" marL="0">
              <a:buNone/>
            </a:pPr>
            <a:endParaRPr lang="en-US" sz="1800" dirty="0"/>
          </a:p>
        </p:txBody>
      </p:sp>
      <p:sp>
        <p:nvSpPr>
          <p:cNvPr id="13" name="Heat row Medium"/>
          <p:cNvSpPr txBox="1"/>
          <p:nvPr/>
        </p:nvSpPr>
        <p:spPr>
          <a:xfrm>
            <a:off x="548640" y="2880360"/>
            <a:ext cx="822960" cy="1005840"/>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Medium</a:t>
            </a:r>
            <a:endParaRPr lang="en-US" sz="1300" dirty="0"/>
          </a:p>
        </p:txBody>
      </p:sp>
      <p:sp>
        <p:nvSpPr>
          <p:cNvPr id="14" name="Heat MediumLow"/>
          <p:cNvSpPr/>
          <p:nvPr/>
        </p:nvSpPr>
        <p:spPr>
          <a:xfrm>
            <a:off x="1371600" y="2880360"/>
            <a:ext cx="1325880" cy="1005840"/>
          </a:xfrm>
          <a:prstGeom prst="roundRect">
            <a:avLst>
              <a:gd name="adj" fmla="val 5455"/>
            </a:avLst>
          </a:prstGeom>
          <a:solidFill>
            <a:srgbClr val="D5EFE0"/>
          </a:solidFill>
          <a:ln w="12700">
            <a:solidFill>
              <a:srgbClr val="D5EFE0"/>
            </a:solidFill>
            <a:prstDash val="solid"/>
          </a:ln>
        </p:spPr>
      </p:sp>
      <p:sp>
        <p:nvSpPr>
          <p:cNvPr id="15" name="Heat txt MediumLow"/>
          <p:cNvSpPr txBox="1"/>
          <p:nvPr/>
        </p:nvSpPr>
        <p:spPr>
          <a:xfrm>
            <a:off x="1371600" y="2880360"/>
            <a:ext cx="1325880" cy="100584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1</a:t>
            </a:r>
            <a:endParaRPr lang="en-US" sz="1800" dirty="0"/>
          </a:p>
        </p:txBody>
      </p:sp>
      <p:sp>
        <p:nvSpPr>
          <p:cNvPr id="16" name="Heat MediumMedium"/>
          <p:cNvSpPr/>
          <p:nvPr/>
        </p:nvSpPr>
        <p:spPr>
          <a:xfrm>
            <a:off x="2788920" y="2880360"/>
            <a:ext cx="1325880" cy="1005840"/>
          </a:xfrm>
          <a:prstGeom prst="roundRect">
            <a:avLst>
              <a:gd name="adj" fmla="val 5455"/>
            </a:avLst>
          </a:prstGeom>
          <a:solidFill>
            <a:srgbClr val="FCEBC8"/>
          </a:solidFill>
          <a:ln w="12700">
            <a:solidFill>
              <a:srgbClr val="FCEBC8"/>
            </a:solidFill>
            <a:prstDash val="solid"/>
          </a:ln>
        </p:spPr>
      </p:sp>
      <p:sp>
        <p:nvSpPr>
          <p:cNvPr id="17" name="Heat txt MediumMedium"/>
          <p:cNvSpPr txBox="1"/>
          <p:nvPr/>
        </p:nvSpPr>
        <p:spPr>
          <a:xfrm>
            <a:off x="2788920" y="2880360"/>
            <a:ext cx="1325880" cy="100584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5, 6, 7</a:t>
            </a:r>
            <a:endParaRPr lang="en-US" sz="1800" dirty="0"/>
          </a:p>
        </p:txBody>
      </p:sp>
      <p:sp>
        <p:nvSpPr>
          <p:cNvPr id="18" name="Heat MediumHigh"/>
          <p:cNvSpPr/>
          <p:nvPr/>
        </p:nvSpPr>
        <p:spPr>
          <a:xfrm>
            <a:off x="4206240" y="2880360"/>
            <a:ext cx="1325880" cy="1005840"/>
          </a:xfrm>
          <a:prstGeom prst="roundRect">
            <a:avLst>
              <a:gd name="adj" fmla="val 5455"/>
            </a:avLst>
          </a:prstGeom>
          <a:solidFill>
            <a:srgbClr val="F6D3D0"/>
          </a:solidFill>
          <a:ln w="12700">
            <a:solidFill>
              <a:srgbClr val="F6D3D0"/>
            </a:solidFill>
            <a:prstDash val="solid"/>
          </a:ln>
        </p:spPr>
      </p:sp>
      <p:sp>
        <p:nvSpPr>
          <p:cNvPr id="19" name="Heat txt MediumHigh"/>
          <p:cNvSpPr txBox="1"/>
          <p:nvPr/>
        </p:nvSpPr>
        <p:spPr>
          <a:xfrm>
            <a:off x="4206240" y="2880360"/>
            <a:ext cx="1325880" cy="100584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2, 8</a:t>
            </a:r>
            <a:endParaRPr lang="en-US" sz="1800" dirty="0"/>
          </a:p>
        </p:txBody>
      </p:sp>
      <p:sp>
        <p:nvSpPr>
          <p:cNvPr id="20" name="Heat row Low"/>
          <p:cNvSpPr txBox="1"/>
          <p:nvPr/>
        </p:nvSpPr>
        <p:spPr>
          <a:xfrm>
            <a:off x="548640" y="3977640"/>
            <a:ext cx="822960" cy="1005840"/>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Low</a:t>
            </a:r>
            <a:endParaRPr lang="en-US" sz="1300" dirty="0"/>
          </a:p>
        </p:txBody>
      </p:sp>
      <p:sp>
        <p:nvSpPr>
          <p:cNvPr id="21" name="Heat LowLow"/>
          <p:cNvSpPr/>
          <p:nvPr/>
        </p:nvSpPr>
        <p:spPr>
          <a:xfrm>
            <a:off x="1371600" y="3977640"/>
            <a:ext cx="1325880" cy="1005840"/>
          </a:xfrm>
          <a:prstGeom prst="roundRect">
            <a:avLst>
              <a:gd name="adj" fmla="val 5455"/>
            </a:avLst>
          </a:prstGeom>
          <a:solidFill>
            <a:srgbClr val="D5EFE0"/>
          </a:solidFill>
          <a:ln w="12700">
            <a:solidFill>
              <a:srgbClr val="D5EFE0"/>
            </a:solidFill>
            <a:prstDash val="solid"/>
          </a:ln>
        </p:spPr>
      </p:sp>
      <p:sp>
        <p:nvSpPr>
          <p:cNvPr id="22" name="Heat txt LowLow"/>
          <p:cNvSpPr txBox="1"/>
          <p:nvPr/>
        </p:nvSpPr>
        <p:spPr>
          <a:xfrm>
            <a:off x="1371600" y="3977640"/>
            <a:ext cx="1325880" cy="1005840"/>
          </a:xfrm>
          <a:prstGeom prst="rect">
            <a:avLst/>
          </a:prstGeom>
          <a:noFill/>
          <a:ln/>
        </p:spPr>
        <p:txBody>
          <a:bodyPr wrap="square" lIns="0" tIns="0" rIns="0" bIns="0" rtlCol="0" anchor="ctr"/>
          <a:lstStyle/>
          <a:p>
            <a:pPr algn="ctr" indent="0" marL="0">
              <a:buNone/>
            </a:pPr>
            <a:endParaRPr lang="en-US" sz="1800" dirty="0"/>
          </a:p>
        </p:txBody>
      </p:sp>
      <p:sp>
        <p:nvSpPr>
          <p:cNvPr id="23" name="Heat LowMedium"/>
          <p:cNvSpPr/>
          <p:nvPr/>
        </p:nvSpPr>
        <p:spPr>
          <a:xfrm>
            <a:off x="2788920" y="3977640"/>
            <a:ext cx="1325880" cy="1005840"/>
          </a:xfrm>
          <a:prstGeom prst="roundRect">
            <a:avLst>
              <a:gd name="adj" fmla="val 5455"/>
            </a:avLst>
          </a:prstGeom>
          <a:solidFill>
            <a:srgbClr val="D5EFE0"/>
          </a:solidFill>
          <a:ln w="12700">
            <a:solidFill>
              <a:srgbClr val="D5EFE0"/>
            </a:solidFill>
            <a:prstDash val="solid"/>
          </a:ln>
        </p:spPr>
      </p:sp>
      <p:sp>
        <p:nvSpPr>
          <p:cNvPr id="24" name="Heat txt LowMedium"/>
          <p:cNvSpPr txBox="1"/>
          <p:nvPr/>
        </p:nvSpPr>
        <p:spPr>
          <a:xfrm>
            <a:off x="2788920" y="3977640"/>
            <a:ext cx="1325880" cy="1005840"/>
          </a:xfrm>
          <a:prstGeom prst="rect">
            <a:avLst/>
          </a:prstGeom>
          <a:noFill/>
          <a:ln/>
        </p:spPr>
        <p:txBody>
          <a:bodyPr wrap="square" lIns="0" tIns="0" rIns="0" bIns="0" rtlCol="0" anchor="ctr"/>
          <a:lstStyle/>
          <a:p>
            <a:pPr algn="ctr" indent="0" marL="0">
              <a:buNone/>
            </a:pPr>
            <a:endParaRPr lang="en-US" sz="1800" dirty="0"/>
          </a:p>
        </p:txBody>
      </p:sp>
      <p:sp>
        <p:nvSpPr>
          <p:cNvPr id="25" name="Heat LowHigh"/>
          <p:cNvSpPr/>
          <p:nvPr/>
        </p:nvSpPr>
        <p:spPr>
          <a:xfrm>
            <a:off x="4206240" y="3977640"/>
            <a:ext cx="1325880" cy="1005840"/>
          </a:xfrm>
          <a:prstGeom prst="roundRect">
            <a:avLst>
              <a:gd name="adj" fmla="val 5455"/>
            </a:avLst>
          </a:prstGeom>
          <a:solidFill>
            <a:srgbClr val="FCEBC8"/>
          </a:solidFill>
          <a:ln w="12700">
            <a:solidFill>
              <a:srgbClr val="FCEBC8"/>
            </a:solidFill>
            <a:prstDash val="solid"/>
          </a:ln>
        </p:spPr>
      </p:sp>
      <p:sp>
        <p:nvSpPr>
          <p:cNvPr id="26" name="Heat txt LowHigh"/>
          <p:cNvSpPr txBox="1"/>
          <p:nvPr/>
        </p:nvSpPr>
        <p:spPr>
          <a:xfrm>
            <a:off x="4206240" y="3977640"/>
            <a:ext cx="1325880" cy="100584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3, 4</a:t>
            </a:r>
            <a:endParaRPr lang="en-US" sz="1800" dirty="0"/>
          </a:p>
        </p:txBody>
      </p:sp>
      <p:sp>
        <p:nvSpPr>
          <p:cNvPr id="27" name="Heat col Low"/>
          <p:cNvSpPr txBox="1"/>
          <p:nvPr/>
        </p:nvSpPr>
        <p:spPr>
          <a:xfrm>
            <a:off x="1371600" y="5120640"/>
            <a:ext cx="1325880" cy="27432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Low</a:t>
            </a:r>
            <a:endParaRPr lang="en-US" sz="1300" dirty="0"/>
          </a:p>
        </p:txBody>
      </p:sp>
      <p:sp>
        <p:nvSpPr>
          <p:cNvPr id="28" name="Heat col Medium"/>
          <p:cNvSpPr txBox="1"/>
          <p:nvPr/>
        </p:nvSpPr>
        <p:spPr>
          <a:xfrm>
            <a:off x="2788920" y="5120640"/>
            <a:ext cx="1325880" cy="27432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Medium</a:t>
            </a:r>
            <a:endParaRPr lang="en-US" sz="1300" dirty="0"/>
          </a:p>
        </p:txBody>
      </p:sp>
      <p:sp>
        <p:nvSpPr>
          <p:cNvPr id="29" name="Heat col High"/>
          <p:cNvSpPr txBox="1"/>
          <p:nvPr/>
        </p:nvSpPr>
        <p:spPr>
          <a:xfrm>
            <a:off x="4206240" y="5120640"/>
            <a:ext cx="1325880" cy="27432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High</a:t>
            </a:r>
            <a:endParaRPr lang="en-US" sz="1300" dirty="0"/>
          </a:p>
        </p:txBody>
      </p:sp>
      <p:sp>
        <p:nvSpPr>
          <p:cNvPr id="30" name="Heat x title"/>
          <p:cNvSpPr txBox="1"/>
          <p:nvPr/>
        </p:nvSpPr>
        <p:spPr>
          <a:xfrm>
            <a:off x="1371600" y="5440680"/>
            <a:ext cx="4206240" cy="274320"/>
          </a:xfrm>
          <a:prstGeom prst="rect">
            <a:avLst/>
          </a:prstGeom>
          <a:noFill/>
          <a:ln/>
        </p:spPr>
        <p:txBody>
          <a:bodyPr wrap="square" lIns="0" tIns="0" rIns="0" bIns="0" rtlCol="0" anchor="t"/>
          <a:lstStyle/>
          <a:p>
            <a:pPr algn="ctr" indent="0" marL="0">
              <a:buNone/>
            </a:pPr>
            <a:r>
              <a:rPr lang="en-US" sz="1200" b="1" dirty="0">
                <a:solidFill>
                  <a:schemeClr val="accent6"/>
                </a:solidFill>
                <a:latin typeface="Calibri" pitchFamily="34" charset="0"/>
                <a:ea typeface="Calibri" pitchFamily="34" charset="-122"/>
                <a:cs typeface="Calibri" pitchFamily="34" charset="-120"/>
              </a:rPr>
              <a:t>Impact</a:t>
            </a:r>
            <a:endParaRPr lang="en-US" sz="1200" dirty="0"/>
          </a:p>
        </p:txBody>
      </p:sp>
      <p:sp>
        <p:nvSpPr>
          <p:cNvPr id="31" name="Risk legend"/>
          <p:cNvSpPr txBox="1"/>
          <p:nvPr/>
        </p:nvSpPr>
        <p:spPr>
          <a:xfrm>
            <a:off x="6035040" y="1371600"/>
            <a:ext cx="2743200" cy="3566160"/>
          </a:xfrm>
          <a:prstGeom prst="rect">
            <a:avLst/>
          </a:prstGeom>
          <a:noFill/>
          <a:ln/>
        </p:spPr>
        <p:txBody>
          <a:bodyPr wrap="square" lIns="0" tIns="0" rIns="0" bIns="0" rtlCol="0" anchor="t"/>
          <a:lstStyle/>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1  Wrong or invented AI findings</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2  Missed defects (false assurance)</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3  Patient data exposure</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4  Clinical-critical code changed</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5  Standards drift or go stale</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6  Uneven adoption</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7  Misleading metrics</a:t>
            </a:r>
            <a:endParaRPr lang="en-US" sz="1300" dirty="0"/>
          </a:p>
          <a:p>
            <a:pPr indent="0" marL="0">
              <a:spcAft>
                <a:spcPts val="600"/>
              </a:spcAft>
              <a:buNone/>
            </a:pPr>
            <a:r>
              <a:rPr lang="en-US" sz="1300" dirty="0">
                <a:solidFill>
                  <a:schemeClr val="tx1"/>
                </a:solidFill>
                <a:latin typeface="Calibri" pitchFamily="34" charset="0"/>
                <a:ea typeface="Calibri" pitchFamily="34" charset="-122"/>
                <a:cs typeface="Calibri" pitchFamily="34" charset="-120"/>
              </a:rPr>
              <a:t>8  AI changes not traceable</a:t>
            </a:r>
            <a:endParaRPr lang="en-US" sz="1300" dirty="0"/>
          </a:p>
        </p:txBody>
      </p:sp>
      <p:sp>
        <p:nvSpPr>
          <p:cNvPr id="32" name="Controls card"/>
          <p:cNvSpPr/>
          <p:nvPr/>
        </p:nvSpPr>
        <p:spPr>
          <a:xfrm>
            <a:off x="8869680" y="1371600"/>
            <a:ext cx="2743200" cy="4343400"/>
          </a:xfrm>
          <a:prstGeom prst="roundRect">
            <a:avLst>
              <a:gd name="adj" fmla="val 2000"/>
            </a:avLst>
          </a:prstGeom>
          <a:solidFill>
            <a:schemeClr val="tx2"/>
          </a:solidFill>
          <a:ln w="12700">
            <a:solidFill>
              <a:schemeClr val="tx2"/>
            </a:solidFill>
            <a:prstDash val="solid"/>
          </a:ln>
        </p:spPr>
      </p:sp>
      <p:sp>
        <p:nvSpPr>
          <p:cNvPr id="33" name="Controls title"/>
          <p:cNvSpPr txBox="1"/>
          <p:nvPr/>
        </p:nvSpPr>
        <p:spPr>
          <a:xfrm>
            <a:off x="9098280" y="1554480"/>
            <a:ext cx="228600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KEY CONTROLS</a:t>
            </a:r>
            <a:endParaRPr lang="en-US" sz="1200" dirty="0"/>
          </a:p>
        </p:txBody>
      </p:sp>
      <p:sp>
        <p:nvSpPr>
          <p:cNvPr id="34" name="Controls bullets"/>
          <p:cNvSpPr txBox="1"/>
          <p:nvPr/>
        </p:nvSpPr>
        <p:spPr>
          <a:xfrm>
            <a:off x="9098280" y="1920240"/>
            <a:ext cx="237744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Quotes verified against code</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Human approval of rules and merges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No patient data in prompts, code or logs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Critical paths flagged, architect sign-off</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Existing analysers stay</a:t>
            </a:r>
            <a:endParaRPr lang="en-US" sz="1400" dirty="0"/>
          </a:p>
        </p:txBody>
      </p:sp>
      <p:sp>
        <p:nvSpPr>
          <p:cNvPr id="35" name="Heat note"/>
          <p:cNvSpPr txBox="1"/>
          <p:nvPr/>
        </p:nvSpPr>
        <p:spPr>
          <a:xfrm>
            <a:off x="6035040" y="5120640"/>
            <a:ext cx="2743200" cy="64008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High-rated: risks 2 and 8. Owners and review dates are tracked in the workbook.</a:t>
            </a:r>
            <a:endParaRPr lang="en-US" sz="12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nchor="ctr"/>
          <a:lstStyle/>
          <a:p>
            <a:pPr algn="l" indent="0" marL="0">
              <a:buNone/>
            </a:pPr>
            <a:r>
              <a:rPr lang="en-US" sz="3000" b="1" dirty="0">
                <a:solidFill>
                  <a:schemeClr val="tx2"/>
                </a:solidFill>
              </a:rPr>
              <a:t>Next steps and decisions requested</a:t>
            </a:r>
            <a:endParaRPr lang="en-US" sz="3000" dirty="0"/>
          </a:p>
        </p:txBody>
      </p:sp>
      <p:sp>
        <p:nvSpPr>
          <p:cNvPr id="3" name="Kicker"/>
          <p:cNvSpPr txBox="1"/>
          <p:nvPr/>
        </p:nvSpPr>
        <p:spPr>
          <a:xfrm>
            <a:off x="548640" y="347472"/>
            <a:ext cx="7315200" cy="2286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PLAN AND DECISIONS</a:t>
            </a:r>
            <a:endParaRPr lang="en-US" sz="1200" dirty="0"/>
          </a:p>
        </p:txBody>
      </p:sp>
      <p:sp>
        <p:nvSpPr>
          <p:cNvPr id="4" name="Source"/>
          <p:cNvSpPr txBox="1"/>
          <p:nvPr/>
        </p:nvSpPr>
        <p:spPr>
          <a:xfrm>
            <a:off x="548640" y="6263640"/>
            <a:ext cx="10789920" cy="228600"/>
          </a:xfrm>
          <a:prstGeom prst="rect">
            <a:avLst/>
          </a:prstGeom>
          <a:noFill/>
          <a:ln/>
        </p:spPr>
        <p:txBody>
          <a:bodyPr wrap="square" lIns="0" tIns="0" rIns="0" bIns="0" rtlCol="0" anchor="t"/>
          <a:lstStyle/>
          <a:p>
            <a:pPr indent="0" marL="0">
              <a:buNone/>
            </a:pPr>
            <a:r>
              <a:rPr lang="en-US" sz="1000" i="1" dirty="0">
                <a:solidFill>
                  <a:schemeClr val="accent6"/>
                </a:solidFill>
                <a:latin typeface="Calibri" pitchFamily="34" charset="0"/>
                <a:ea typeface="Calibri" pitchFamily="34" charset="-122"/>
                <a:cs typeface="Calibri" pitchFamily="34" charset="-120"/>
              </a:rPr>
              <a:t>Source: reporting workbook, Actions sheet. Illustrative sample data (P01, P02); replace with actuals before presenting.</a:t>
            </a:r>
            <a:endParaRPr lang="en-US" sz="1000" dirty="0"/>
          </a:p>
        </p:txBody>
      </p:sp>
      <p:sp>
        <p:nvSpPr>
          <p:cNvPr id="5" name="Phase card 0"/>
          <p:cNvSpPr/>
          <p:nvPr/>
        </p:nvSpPr>
        <p:spPr>
          <a:xfrm>
            <a:off x="548640" y="1371600"/>
            <a:ext cx="2651760" cy="1920240"/>
          </a:xfrm>
          <a:prstGeom prst="roundRect">
            <a:avLst>
              <a:gd name="adj" fmla="val 2857"/>
            </a:avLst>
          </a:prstGeom>
          <a:solidFill>
            <a:schemeClr val="bg2"/>
          </a:solidFill>
          <a:ln w="12700">
            <a:solidFill>
              <a:schemeClr val="bg2"/>
            </a:solidFill>
            <a:prstDash val="solid"/>
          </a:ln>
        </p:spPr>
      </p:sp>
      <p:sp>
        <p:nvSpPr>
          <p:cNvPr id="6" name="Phase when 0"/>
          <p:cNvSpPr txBox="1"/>
          <p:nvPr/>
        </p:nvSpPr>
        <p:spPr>
          <a:xfrm>
            <a:off x="777240" y="1508760"/>
            <a:ext cx="2194560" cy="256032"/>
          </a:xfrm>
          <a:prstGeom prst="rect">
            <a:avLst/>
          </a:prstGeom>
          <a:noFill/>
          <a:ln/>
        </p:spPr>
        <p:txBody>
          <a:bodyPr wrap="square" lIns="0" tIns="0" rIns="0" bIns="0" rtlCol="0" anchor="t"/>
          <a:lstStyle/>
          <a:p>
            <a:pPr indent="0" marL="0">
              <a:buNone/>
            </a:pPr>
            <a:r>
              <a:rPr lang="en-US" sz="1200" b="1" dirty="0">
                <a:solidFill>
                  <a:schemeClr val="accent6"/>
                </a:solidFill>
                <a:latin typeface="Calibri" pitchFamily="34" charset="0"/>
                <a:ea typeface="Calibri" pitchFamily="34" charset="-122"/>
                <a:cs typeface="Calibri" pitchFamily="34" charset="-120"/>
              </a:rPr>
              <a:t>WEEKS 1-4</a:t>
            </a:r>
            <a:endParaRPr lang="en-US" sz="1200" dirty="0"/>
          </a:p>
        </p:txBody>
      </p:sp>
      <p:sp>
        <p:nvSpPr>
          <p:cNvPr id="7" name="Phase title 0"/>
          <p:cNvSpPr txBox="1"/>
          <p:nvPr/>
        </p:nvSpPr>
        <p:spPr>
          <a:xfrm>
            <a:off x="777240" y="1801368"/>
            <a:ext cx="22860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Baseline first</a:t>
            </a:r>
            <a:endParaRPr lang="en-US" sz="1800" dirty="0"/>
          </a:p>
        </p:txBody>
      </p:sp>
      <p:sp>
        <p:nvSpPr>
          <p:cNvPr id="8" name="Phase text 0"/>
          <p:cNvSpPr txBox="1"/>
          <p:nvPr/>
        </p:nvSpPr>
        <p:spPr>
          <a:xfrm>
            <a:off x="777240" y="2286000"/>
            <a:ext cx="22402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 metrics for all 10 projects; approve starter rules</a:t>
            </a:r>
            <a:endParaRPr lang="en-US" sz="1400" dirty="0"/>
          </a:p>
        </p:txBody>
      </p:sp>
      <p:sp>
        <p:nvSpPr>
          <p:cNvPr id="9" name="Phase card 1"/>
          <p:cNvSpPr/>
          <p:nvPr/>
        </p:nvSpPr>
        <p:spPr>
          <a:xfrm>
            <a:off x="3337560" y="1371600"/>
            <a:ext cx="2651760" cy="1920240"/>
          </a:xfrm>
          <a:prstGeom prst="roundRect">
            <a:avLst>
              <a:gd name="adj" fmla="val 2857"/>
            </a:avLst>
          </a:prstGeom>
          <a:solidFill>
            <a:schemeClr val="bg2"/>
          </a:solidFill>
          <a:ln w="12700">
            <a:solidFill>
              <a:schemeClr val="bg2"/>
            </a:solidFill>
            <a:prstDash val="solid"/>
          </a:ln>
        </p:spPr>
      </p:sp>
      <p:sp>
        <p:nvSpPr>
          <p:cNvPr id="10" name="Phase when 1"/>
          <p:cNvSpPr txBox="1"/>
          <p:nvPr/>
        </p:nvSpPr>
        <p:spPr>
          <a:xfrm>
            <a:off x="3566160" y="1508760"/>
            <a:ext cx="2194560" cy="256032"/>
          </a:xfrm>
          <a:prstGeom prst="rect">
            <a:avLst/>
          </a:prstGeom>
          <a:noFill/>
          <a:ln/>
        </p:spPr>
        <p:txBody>
          <a:bodyPr wrap="square" lIns="0" tIns="0" rIns="0" bIns="0" rtlCol="0" anchor="t"/>
          <a:lstStyle/>
          <a:p>
            <a:pPr indent="0" marL="0">
              <a:buNone/>
            </a:pPr>
            <a:r>
              <a:rPr lang="en-US" sz="1200" b="1" dirty="0">
                <a:solidFill>
                  <a:schemeClr val="accent6"/>
                </a:solidFill>
                <a:latin typeface="Calibri" pitchFamily="34" charset="0"/>
                <a:ea typeface="Calibri" pitchFamily="34" charset="-122"/>
                <a:cs typeface="Calibri" pitchFamily="34" charset="-120"/>
              </a:rPr>
              <a:t>WEEKS 4-8</a:t>
            </a:r>
            <a:endParaRPr lang="en-US" sz="1200" dirty="0"/>
          </a:p>
        </p:txBody>
      </p:sp>
      <p:sp>
        <p:nvSpPr>
          <p:cNvPr id="11" name="Phase title 1"/>
          <p:cNvSpPr txBox="1"/>
          <p:nvPr/>
        </p:nvSpPr>
        <p:spPr>
          <a:xfrm>
            <a:off x="3566160" y="1801368"/>
            <a:ext cx="22860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Advisory mode</a:t>
            </a:r>
            <a:endParaRPr lang="en-US" sz="1800" dirty="0"/>
          </a:p>
        </p:txBody>
      </p:sp>
      <p:sp>
        <p:nvSpPr>
          <p:cNvPr id="12" name="Phase text 1"/>
          <p:cNvSpPr txBox="1"/>
          <p:nvPr/>
        </p:nvSpPr>
        <p:spPr>
          <a:xfrm>
            <a:off x="3566160" y="2286000"/>
            <a:ext cx="22402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Reviewer agent on; log accepted and rejected findings</a:t>
            </a:r>
            <a:endParaRPr lang="en-US" sz="1400" dirty="0"/>
          </a:p>
        </p:txBody>
      </p:sp>
      <p:sp>
        <p:nvSpPr>
          <p:cNvPr id="13" name="Phase card 2"/>
          <p:cNvSpPr/>
          <p:nvPr/>
        </p:nvSpPr>
        <p:spPr>
          <a:xfrm>
            <a:off x="6126480" y="1371600"/>
            <a:ext cx="2651760" cy="1920240"/>
          </a:xfrm>
          <a:prstGeom prst="roundRect">
            <a:avLst>
              <a:gd name="adj" fmla="val 2857"/>
            </a:avLst>
          </a:prstGeom>
          <a:solidFill>
            <a:schemeClr val="bg2"/>
          </a:solidFill>
          <a:ln w="12700">
            <a:solidFill>
              <a:schemeClr val="bg2"/>
            </a:solidFill>
            <a:prstDash val="solid"/>
          </a:ln>
        </p:spPr>
      </p:sp>
      <p:sp>
        <p:nvSpPr>
          <p:cNvPr id="14" name="Phase when 2"/>
          <p:cNvSpPr txBox="1"/>
          <p:nvPr/>
        </p:nvSpPr>
        <p:spPr>
          <a:xfrm>
            <a:off x="6355080" y="1508760"/>
            <a:ext cx="2194560" cy="256032"/>
          </a:xfrm>
          <a:prstGeom prst="rect">
            <a:avLst/>
          </a:prstGeom>
          <a:noFill/>
          <a:ln/>
        </p:spPr>
        <p:txBody>
          <a:bodyPr wrap="square" lIns="0" tIns="0" rIns="0" bIns="0" rtlCol="0" anchor="t"/>
          <a:lstStyle/>
          <a:p>
            <a:pPr indent="0" marL="0">
              <a:buNone/>
            </a:pPr>
            <a:r>
              <a:rPr lang="en-US" sz="1200" b="1" dirty="0">
                <a:solidFill>
                  <a:schemeClr val="accent6"/>
                </a:solidFill>
                <a:latin typeface="Calibri" pitchFamily="34" charset="0"/>
                <a:ea typeface="Calibri" pitchFamily="34" charset="-122"/>
                <a:cs typeface="Calibri" pitchFamily="34" charset="-120"/>
              </a:rPr>
              <a:t>WEEK 8 ON</a:t>
            </a:r>
            <a:endParaRPr lang="en-US" sz="1200" dirty="0"/>
          </a:p>
        </p:txBody>
      </p:sp>
      <p:sp>
        <p:nvSpPr>
          <p:cNvPr id="15" name="Phase title 2"/>
          <p:cNvSpPr txBox="1"/>
          <p:nvPr/>
        </p:nvSpPr>
        <p:spPr>
          <a:xfrm>
            <a:off x="6355080" y="1801368"/>
            <a:ext cx="22860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Gate what is certain</a:t>
            </a:r>
            <a:endParaRPr lang="en-US" sz="1800" dirty="0"/>
          </a:p>
        </p:txBody>
      </p:sp>
      <p:sp>
        <p:nvSpPr>
          <p:cNvPr id="16" name="Phase text 2"/>
          <p:cNvSpPr txBox="1"/>
          <p:nvPr/>
        </p:nvSpPr>
        <p:spPr>
          <a:xfrm>
            <a:off x="6355080" y="2286000"/>
            <a:ext cx="22402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CI gate for proven deterministic checks only</a:t>
            </a:r>
            <a:endParaRPr lang="en-US" sz="1400" dirty="0"/>
          </a:p>
        </p:txBody>
      </p:sp>
      <p:sp>
        <p:nvSpPr>
          <p:cNvPr id="17" name="Phase card 3"/>
          <p:cNvSpPr/>
          <p:nvPr/>
        </p:nvSpPr>
        <p:spPr>
          <a:xfrm>
            <a:off x="8915400" y="1371600"/>
            <a:ext cx="2651760" cy="1920240"/>
          </a:xfrm>
          <a:prstGeom prst="roundRect">
            <a:avLst>
              <a:gd name="adj" fmla="val 2857"/>
            </a:avLst>
          </a:prstGeom>
          <a:solidFill>
            <a:schemeClr val="bg2"/>
          </a:solidFill>
          <a:ln w="12700">
            <a:solidFill>
              <a:schemeClr val="bg2"/>
            </a:solidFill>
            <a:prstDash val="solid"/>
          </a:ln>
        </p:spPr>
      </p:sp>
      <p:sp>
        <p:nvSpPr>
          <p:cNvPr id="18" name="Phase when 3"/>
          <p:cNvSpPr txBox="1"/>
          <p:nvPr/>
        </p:nvSpPr>
        <p:spPr>
          <a:xfrm>
            <a:off x="9144000" y="1508760"/>
            <a:ext cx="2194560" cy="256032"/>
          </a:xfrm>
          <a:prstGeom prst="rect">
            <a:avLst/>
          </a:prstGeom>
          <a:noFill/>
          <a:ln/>
        </p:spPr>
        <p:txBody>
          <a:bodyPr wrap="square" lIns="0" tIns="0" rIns="0" bIns="0" rtlCol="0" anchor="t"/>
          <a:lstStyle/>
          <a:p>
            <a:pPr indent="0" marL="0">
              <a:buNone/>
            </a:pPr>
            <a:r>
              <a:rPr lang="en-US" sz="1200" b="1" dirty="0">
                <a:solidFill>
                  <a:schemeClr val="accent6"/>
                </a:solidFill>
                <a:latin typeface="Calibri" pitchFamily="34" charset="0"/>
                <a:ea typeface="Calibri" pitchFamily="34" charset="-122"/>
                <a:cs typeface="Calibri" pitchFamily="34" charset="-120"/>
              </a:rPr>
              <a:t>ONGOING</a:t>
            </a:r>
            <a:endParaRPr lang="en-US" sz="1200" dirty="0"/>
          </a:p>
        </p:txBody>
      </p:sp>
      <p:sp>
        <p:nvSpPr>
          <p:cNvPr id="19" name="Phase title 3"/>
          <p:cNvSpPr txBox="1"/>
          <p:nvPr/>
        </p:nvSpPr>
        <p:spPr>
          <a:xfrm>
            <a:off x="9144000" y="1801368"/>
            <a:ext cx="22860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Monthly learning</a:t>
            </a:r>
            <a:endParaRPr lang="en-US" sz="1800" dirty="0"/>
          </a:p>
        </p:txBody>
      </p:sp>
      <p:sp>
        <p:nvSpPr>
          <p:cNvPr id="20" name="Phase text 3"/>
          <p:cNvSpPr txBox="1"/>
          <p:nvPr/>
        </p:nvSpPr>
        <p:spPr>
          <a:xfrm>
            <a:off x="9144000" y="2286000"/>
            <a:ext cx="22402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Mine new comments; architects approve new rules</a:t>
            </a:r>
            <a:endParaRPr lang="en-US" sz="1400" dirty="0"/>
          </a:p>
        </p:txBody>
      </p:sp>
      <p:sp>
        <p:nvSpPr>
          <p:cNvPr id="21" name="Actions card"/>
          <p:cNvSpPr/>
          <p:nvPr/>
        </p:nvSpPr>
        <p:spPr>
          <a:xfrm>
            <a:off x="548640" y="3520440"/>
            <a:ext cx="5486400" cy="2377440"/>
          </a:xfrm>
          <a:prstGeom prst="roundRect">
            <a:avLst>
              <a:gd name="adj" fmla="val 2308"/>
            </a:avLst>
          </a:prstGeom>
          <a:solidFill>
            <a:schemeClr val="bg2"/>
          </a:solidFill>
          <a:ln w="12700">
            <a:solidFill>
              <a:schemeClr val="bg2"/>
            </a:solidFill>
            <a:prstDash val="solid"/>
          </a:ln>
        </p:spPr>
      </p:sp>
      <p:sp>
        <p:nvSpPr>
          <p:cNvPr id="22" name="Actions title"/>
          <p:cNvSpPr txBox="1"/>
          <p:nvPr/>
        </p:nvSpPr>
        <p:spPr>
          <a:xfrm>
            <a:off x="777240" y="3657600"/>
            <a:ext cx="457200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Open actions (8)</a:t>
            </a:r>
            <a:endParaRPr lang="en-US" sz="1600" dirty="0"/>
          </a:p>
        </p:txBody>
      </p:sp>
      <p:sp>
        <p:nvSpPr>
          <p:cNvPr id="23" name="Actions bullets"/>
          <p:cNvSpPr txBox="1"/>
          <p:nvPr/>
        </p:nvSpPr>
        <p:spPr>
          <a:xfrm>
            <a:off x="777240" y="4069080"/>
            <a:ext cx="502920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Measurement (1): baseline PR metrics, equal periods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Agentic repo (3): approve rules, shadow mode, CI gate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Governance (3): critical paths, data handling, documentation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Reporting (1): agree cadence and definitions</a:t>
            </a:r>
            <a:endParaRPr lang="en-US" sz="1400" dirty="0"/>
          </a:p>
        </p:txBody>
      </p:sp>
      <p:sp>
        <p:nvSpPr>
          <p:cNvPr id="24" name="Decisions panel"/>
          <p:cNvSpPr/>
          <p:nvPr/>
        </p:nvSpPr>
        <p:spPr>
          <a:xfrm>
            <a:off x="6217920" y="3520440"/>
            <a:ext cx="5394960" cy="2377440"/>
          </a:xfrm>
          <a:prstGeom prst="roundRect">
            <a:avLst>
              <a:gd name="adj" fmla="val 2308"/>
            </a:avLst>
          </a:prstGeom>
          <a:solidFill>
            <a:schemeClr val="tx2"/>
          </a:solidFill>
          <a:ln w="12700">
            <a:solidFill>
              <a:schemeClr val="tx2"/>
            </a:solidFill>
            <a:prstDash val="solid"/>
          </a:ln>
        </p:spPr>
      </p:sp>
      <p:sp>
        <p:nvSpPr>
          <p:cNvPr id="25" name="Decisions title"/>
          <p:cNvSpPr txBox="1"/>
          <p:nvPr/>
        </p:nvSpPr>
        <p:spPr>
          <a:xfrm>
            <a:off x="6446520" y="3657600"/>
            <a:ext cx="4572000" cy="27432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DECISIONS REQUESTED</a:t>
            </a:r>
            <a:endParaRPr lang="en-US" sz="1300" dirty="0"/>
          </a:p>
        </p:txBody>
      </p:sp>
      <p:sp>
        <p:nvSpPr>
          <p:cNvPr id="26" name="Decisions list"/>
          <p:cNvSpPr txBox="1"/>
          <p:nvPr/>
        </p:nvSpPr>
        <p:spPr>
          <a:xfrm>
            <a:off x="6446520" y="4069080"/>
            <a:ext cx="4937760" cy="19202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Nominate a data owner per project and share PR history</a:t>
            </a:r>
            <a:endParaRPr lang="en-US" sz="1600" dirty="0"/>
          </a:p>
          <a:p>
            <a:pPr marL="342900" indent="-342900">
              <a:spcAft>
                <a:spcPts val="8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Name the architects who approve rules and critical paths</a:t>
            </a:r>
            <a:endParaRPr lang="en-US" sz="1600" dirty="0"/>
          </a:p>
          <a:p>
            <a:pPr marL="342900" indent="-342900">
              <a:spcAft>
                <a:spcPts val="8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Confirm AI tool data-handling terms with security and quality</a:t>
            </a:r>
            <a:endParaRPr lang="en-US" sz="1600" dirty="0"/>
          </a:p>
        </p:txBody>
      </p:sp>
      <p:sp>
        <p:nvSpPr>
          <p:cNvPr id="25" name="Slide Number Placeholder 0"/>
          <p:cNvSpPr>
            <a:spLocks noGrp="1"/>
          </p:cNvSpPr>
          <p:nvPr>
            <p:ph type="sldNum" sz="quarter" idx="4294967295"/>
          </p:nvPr>
        </p:nvSpPr>
        <p:spPr>
          <a:xfrm>
            <a:off x="11064240" y="649224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Account AI Review">
  <a:themeElements>
    <a:clrScheme name="Account AI Review">
      <a:dk1>
        <a:srgbClr val="10222B"/>
      </a:dk1>
      <a:lt1>
        <a:srgbClr val="FFFFFF"/>
      </a:lt1>
      <a:dk2>
        <a:srgbClr val="0B2A3C"/>
      </a:dk2>
      <a:lt2>
        <a:srgbClr val="EAF1F3"/>
      </a:lt2>
      <a:accent1>
        <a:srgbClr val="1F6F78"/>
      </a:accent1>
      <a:accent2>
        <a:srgbClr val="E8A33D"/>
      </a:accent2>
      <a:accent3>
        <a:srgbClr val="9FB4BC"/>
      </a:accent3>
      <a:accent4>
        <a:srgbClr val="B3261E"/>
      </a:accent4>
      <a:accent5>
        <a:srgbClr val="1E7B46"/>
      </a:accent5>
      <a:accent6>
        <a:srgbClr val="6B7C85"/>
      </a:accent6>
      <a:hlink>
        <a:srgbClr val="1F6F78"/>
      </a:hlink>
      <a:folHlink>
        <a:srgbClr val="6B7C85"/>
      </a:folHlink>
    </a:clrScheme>
    <a:fontScheme name="Account AI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Adoption and the Agentic Repository - Account Review</dc:title>
  <dc:subject>PptxGenJS Presentation</dc:subject>
  <dc:creator>PptxGenJS</dc:creator>
  <cp:lastModifiedBy>PptxGenJS</cp:lastModifiedBy>
  <cp:revision>1</cp:revision>
  <dcterms:created xsi:type="dcterms:W3CDTF">2026-10-08T02:06:06Z</dcterms:created>
  <dcterms:modified xsi:type="dcterms:W3CDTF">2026-10-08T02:06:06Z</dcterms:modified>
</cp:coreProperties>
</file>